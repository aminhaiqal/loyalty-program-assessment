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Requirements and scope</a:t>
            </a:r>
          </a:p>
          <a:p>
            <a:r>
              <a:t>Timing: 50 seconds</a:t>
            </a:r>
          </a:p>
          <a:p/>
          <a:p>
            <a:r>
              <a:t>Opening: “Good morning, I’m Amin. I’ll walk through the requirements, the key design decisions, and the controls behind the receipt approval process. Then I’ll demonstrate the complete workflow.”</a:t>
            </a:r>
          </a:p>
          <a:p/>
          <a:p>
            <a:r>
              <a:t>“The assessment asks members to register using email or phone, upload a receipt, and receive a voucher after administrator approval. It also requires dashboards, receipt history and profile settings. I focused on correctness, ownership and clear feedback.”</a:t>
            </a:r>
          </a:p>
          <a:p/>
          <a:p>
            <a:r>
              <a:t>Mention that OTP, redemption and expiry are not required. Do not describe voucher redemption as implemented.</a:t>
            </a:r>
          </a:p>
          <a:p/>
          <a:p>
            <a:r>
              <a:t>Transition: “Those requirements led to a simple workflow with two final outcomes.”</a:t>
            </a:r>
          </a:p>
          <a:p/>
          <a:p>
            <a:r>
              <a:t>Source: Developer_Loyalty_Program_Assessment.pdf, sections 2–5 and 13.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Member-to-admin workflow</a:t>
            </a:r>
          </a:p>
          <a:p>
            <a:r>
              <a:t>Timing: 45 seconds</a:t>
            </a:r>
          </a:p>
          <a:p/>
          <a:p>
            <a:r>
              <a:t>“An upload starts as PENDING. An administrator inspects the file and the purchase details, then approves or rejects it. Approval creates a voucher tied to that receipt. Rejection creates no voucher. An already processed receipt cannot be processed again.”</a:t>
            </a:r>
          </a:p>
          <a:p/>
          <a:p>
            <a:r>
              <a:t>“The member can see all, pending, approved and rejected receipts with counts. Administrator filtering makes it easier to work through the pending queue.”</a:t>
            </a:r>
          </a:p>
          <a:p/>
          <a:p>
            <a:r>
              <a:t>Transition: “The API enforces these rules, so the workflow does not depend on the UI.”</a:t>
            </a:r>
          </a:p>
          <a:p/>
          <a:p>
            <a:r>
              <a:t>Source: server/src/routes/receipts.js; server/src/services/receipt-decision.js; client/src/App.jsx.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Architecture and stack choices</a:t>
            </a:r>
          </a:p>
          <a:p>
            <a:r>
              <a:t>Timing: 60 seconds</a:t>
            </a:r>
          </a:p>
          <a:p/>
          <a:p>
            <a:r>
              <a:t>“I used the required React, Express and PostgreSQL stack. React handles forms, navigation and feedback. Express provides REST endpoints and enforces authentication, ownership, validation and decisions. I used pg with parameterized SQL because the data model is small and the transaction is easy to inspect.”</a:t>
            </a:r>
          </a:p>
          <a:p/>
          <a:p>
            <a:r>
              <a:t>“The database stores receipt metadata, while the file bytes live in a private upload volume. Downloads go through an authenticated API endpoint.”</a:t>
            </a:r>
          </a:p>
          <a:p/>
          <a:p>
            <a:r>
              <a:t>“shadcn/ui and Tailwind give the interface consistent controls and styling.”</a:t>
            </a:r>
          </a:p>
          <a:p/>
          <a:p>
            <a:r>
              <a:t>Transition: “The data model reflects the same receipt-to-voucher relationship.”</a:t>
            </a:r>
          </a:p>
          <a:p/>
          <a:p>
            <a:r>
              <a:t>Source: package.json; server/src/app.js; server/src/routes/receipts.js; compose.yaml.</a:t>
            </a:r>
          </a:p>
          <a:p/>
          <a:p>
            <a:r>
              <a:t>If asked: Why no microservices? A single application is appropriate for this assessment and reduces deployment and transaction complexity.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Database design</a:t>
            </a:r>
          </a:p>
          <a:p>
            <a:r>
              <a:t>Timing: 60 seconds</a:t>
            </a:r>
          </a:p>
          <a:p/>
          <a:p>
            <a:r>
              <a:t>“A user can own many receipts. A receipt has zero or one voucher: zero while pending or rejected, and one after successful approval. Each voucher records both its owner and its source receipt.”</a:t>
            </a:r>
          </a:p>
          <a:p/>
          <a:p>
            <a:r>
              <a:t>“Foreign keys maintain relationships. The composite unique constraint prevents a member from submitting the same order twice. The unique receipt reference prevents duplicate vouchers. Amounts use NUMERIC(12,2), and status uses an enum.”</a:t>
            </a:r>
          </a:p>
          <a:p/>
          <a:p>
            <a:r>
              <a:t>“This is a simplified relationship view. Receipts also record processed_by, processed_at and an optional rejection reason.”</a:t>
            </a:r>
          </a:p>
          <a:p/>
          <a:p>
            <a:r>
              <a:t>Transition: “The unique constraint prevents duplicates; the transaction makes approval and voucher creation succeed together.”</a:t>
            </a:r>
          </a:p>
          <a:p/>
          <a:p>
            <a:r>
              <a:t>Source: server/db/schema.sql.</a:t>
            </a:r>
          </a:p>
          <a:p/>
          <a:p>
            <a:r>
              <a:t>If asked: Why zero-or-one? The uniqueness constraint guarantees at most one voucher; the API transaction guarantees the voucher is created with a successful approval.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Preventing duplicate vouchers</a:t>
            </a:r>
          </a:p>
          <a:p>
            <a:r>
              <a:t>Timing: 80 seconds</a:t>
            </a:r>
          </a:p>
          <a:p/>
          <a:p>
            <a:r>
              <a:t>“This is the most important business rule in the project. First I start a transaction and select the receipt FOR UPDATE. That locks this receipt row while the decision is processed. I check that it is still pending, update its status, insert the voucher for an approval, then commit.”</a:t>
            </a:r>
          </a:p>
          <a:p/>
          <a:p>
            <a:r>
              <a:t>“If the voucher insert fails, the transaction rolls back the status update too. For rejection, the insert path is skipped.”</a:t>
            </a:r>
          </a:p>
          <a:p/>
          <a:p>
            <a:r>
              <a:t>“If two administrators approve the same receipt at the same time, the second request waits for the row lock. After the first commits, the second sees APPROVED and returns 409. The unique constraint adds another database safeguard.”</a:t>
            </a:r>
          </a:p>
          <a:p/>
          <a:p>
            <a:r>
              <a:t>Transition: “The same principle applies to access: permissions must be checked on the server.”</a:t>
            </a:r>
          </a:p>
          <a:p/>
          <a:p>
            <a:r>
              <a:t>Source: server/src/services/receipt-decision.js; server/db/schema.sql.</a:t>
            </a:r>
          </a:p>
          <a:p/>
          <a:p>
            <a:r>
              <a:t>If asked: The existing unit tests use a fake database. Explain the concurrency design, but do not claim the unit tests prove real concurrent PostgreSQL behavior.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Security and validation</a:t>
            </a:r>
          </a:p>
          <a:p>
            <a:r>
              <a:t>Timing: 65 seconds</a:t>
            </a:r>
          </a:p>
          <a:p/>
          <a:p>
            <a:r>
              <a:t>“Passwords are hashed with bcrypt at cost 12. The JWT expires after eight hours. Each authenticated request re-reads the account, so a deleted account or changed role is reflected by the API.”</a:t>
            </a:r>
          </a:p>
          <a:p/>
          <a:p>
            <a:r>
              <a:t>“Member queries filter by the authenticated user ID. File downloads check ownership or admin access. SQL inputs use parameters. Uploads restrict MIME type, extension and size; receipt fields are checked before a record is accepted, and a temporary file is removed when that submission fails.”</a:t>
            </a:r>
          </a:p>
          <a:p/>
          <a:p>
            <a:r>
              <a:t>“Errors distinguish unauthenticated, forbidden, invalid input, missing resources and conflicts.”</a:t>
            </a:r>
          </a:p>
          <a:p/>
          <a:p>
            <a:r>
              <a:t>Transition: “I checked both the normal journey and these failure cases.”</a:t>
            </a:r>
          </a:p>
          <a:p/>
          <a:p>
            <a:r>
              <a:t>Source: server/src/middleware/auth.js; server/src/routes/auth.js; server/src/upload.js; server/src/validation.js; server/src/routes/receipts.js.</a:t>
            </a:r>
          </a:p>
          <a:p/>
          <a:p>
            <a:r>
              <a:t>If asked: JWT logout clears the client token; it does not revoke a copied token. Upload validation checks declared MIME/extension, not malware or file signatures. Those are sensible hardening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Verification and test evidence</a:t>
            </a:r>
          </a:p>
          <a:p>
            <a:r>
              <a:t>Timing: 50 seconds</a:t>
            </a:r>
          </a:p>
          <a:p/>
          <a:p>
            <a:r>
              <a:t>“The verification on 2 September passed all nine automated tests and the full Postman collection: 53 requests and 137 assertions. The collection checks registration, profile updates, receipt uploads, ownership, admin access, decisions and controlled errors.”</a:t>
            </a:r>
          </a:p>
          <a:p/>
          <a:p>
            <a:r>
              <a:t>“Manual UAT adds browser interaction and visual review. I will provide the completed UAT record separately. Automated checks support that record; they do not replace it.”</a:t>
            </a:r>
          </a:p>
          <a:p/>
          <a:p>
            <a:r>
              <a:t>“Docker startup, schema setup and the production build were also checked.”</a:t>
            </a:r>
          </a:p>
          <a:p/>
          <a:p>
            <a:r>
              <a:t>Transition: “I also made the application straightforward for another developer to run.”</a:t>
            </a:r>
          </a:p>
          <a:p/>
          <a:p>
            <a:r>
              <a:t>Source: server/test/*.test.js; postman/README.md; recorded project verification on 2 September 2026.</a:t>
            </a:r>
          </a:p>
          <a:p/>
          <a:p>
            <a:r>
              <a:t>If asked: Next useful tests: real concurrent decisions and transaction rollback with PostgreSQL, followed by automated browser journeys. Do not claim every UAT case passed unless your completed record supports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Delivery, contribution and tradeoffs</a:t>
            </a:r>
          </a:p>
          <a:p>
            <a:r>
              <a:t>Timing: 70 seconds</a:t>
            </a:r>
          </a:p>
          <a:p/>
          <a:p>
            <a:r>
              <a:t>“A reviewer can run make to generate local configuration, build the containers, apply the schema and seed the administrator. The CI workflow tests and builds changes; main deployments publish an image tied to a commit and verify health and version on the VPS. Public access uses HTTPS.”</a:t>
            </a:r>
          </a:p>
          <a:p/>
          <a:p>
            <a:r>
              <a:t>“My contribution includes writing the technical brief, setting requirements and UX priorities, directing refinements, reviewing the work, and performing UAT. AI helped with scaffolding, implementation refinements, tests, documentation and deployment configuration. I am responsible for understanding and explaining the final design.”</a:t>
            </a:r>
          </a:p>
          <a:p/>
          <a:p>
            <a:r>
              <a:t>“The tradeoffs are intentional: local file storage and an idempotent schema bootstrap suit a single instance. For a broader production rollout, I would add object storage, ordered migrations, rate limiting and session revocation.”</a:t>
            </a:r>
          </a:p>
          <a:p/>
          <a:p>
            <a:r>
              <a:t>Transition: “Now I’ll demonstrate how those pieces work together as a member and administrator.”</a:t>
            </a:r>
          </a:p>
          <a:p/>
          <a:p>
            <a:r>
              <a:t>Source: Makefile; README.md; .github/workflows/pipeline.yml; compose.yaml; deploy/vps-deploy.sh.</a:t>
            </a:r>
          </a:p>
          <a:p/>
          <a:p>
            <a:r>
              <a:t>If asked: If asked for percentages, the README currently states an estimated 60% personal / 40% AI-assisted contribution. This is a subjective overall estimate, not a measured code authorship statistic. Be specific about what you personally reviewed and tested.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Live demo — led by Amin</a:t>
            </a:r>
          </a:p>
          <a:p>
            <a:r>
              <a:t>Timing: 4–5 minutes</a:t>
            </a:r>
          </a:p>
          <a:p/>
          <a:p>
            <a:r>
              <a:t>Before the interview: use two separate browser profiles or normal/private windows so member and administrator sessions stay independent. Prepare synthetic files, one new upload and a second pending receipt for rejection. Keep unique order IDs ready and use a valid past purchase date. Confirm the site loads and both accounts can sign in. Do not display passwords, tokens or .env.</a:t>
            </a:r>
          </a:p>
          <a:p/>
          <a:p>
            <a:r>
              <a:t>Demo script:</a:t>
            </a:r>
          </a:p>
          <a:p>
            <a:r>
              <a:t>1. Briefly show the member overview, then Receipt history → New receipt. Upload a sample file with a unique order ID and positive amount. Show the success message and PENDING status/count.</a:t>
            </a:r>
          </a:p>
          <a:p>
            <a:r>
              <a:t>2. Switch to admin. Open the pending queue, retrieve the evidence and approve. Point out the confirmation and queue refresh.</a:t>
            </a:r>
          </a:p>
          <a:p>
            <a:r>
              <a:t>3. Return to the member and refresh history. Show APPROVED, then the voucher and source order.</a:t>
            </a:r>
          </a:p>
          <a:p>
            <a:r>
              <a:t>4. Reject the second pending receipt with a short reason. Return to the member, refresh, show REJECTED and verify the voucher count did not increase.</a:t>
            </a:r>
          </a:p>
          <a:p>
            <a:r>
              <a:t>5. If time permits, resend the approval in Postman and show 409 ALREADY_PROCESSED with no new voucher.</a:t>
            </a:r>
          </a:p>
          <a:p/>
          <a:p>
            <a:r>
              <a:t>Closing line: “That demonstrates the key rules: every receipt starts pending, only an administrator decides, and each successful approval creates one traceable voucher. I’m happy to walk through the transaction code or database design.”</a:t>
            </a:r>
          </a:p>
          <a:p/>
          <a:p>
            <a:r>
              <a:t>Transition: After the live demo, return to slides 10–12 for a brief recap of the three crucial user journeys, then take questions.</a:t>
            </a:r>
          </a:p>
          <a:p/>
          <a:p>
            <a:r>
              <a:t>Source: client/src/App.jsx; postman collection; README.md.</a:t>
            </a:r>
          </a:p>
          <a:p/>
          <a:p>
            <a:r>
              <a:t>If asked: Have the local Docker stack ready as a fallback, and label it as local if used. Prepare it beforehand; do not depend on a fresh Docker build during the interview.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 journey 1: Member submits a receipt</a:t>
            </a:r>
          </a:p>
          <a:p/>
          <a:p>
            <a:r>
              <a:t>Timing: 15–20 seconds.</a:t>
            </a:r>
          </a:p>
          <a:p/>
          <a:p>
            <a:r>
              <a:t>The member submits a receipt with its order ID, purchase date and amount. After validation, it appears in their own receipt history as PENDING. No voucher is issued yet.</a:t>
            </a:r>
          </a:p>
          <a:p/>
          <a:p>
            <a:r>
              <a:t>Use this slide as a brief recap after the live demo.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 journey 2: Admin approves a receipt</a:t>
            </a:r>
          </a:p>
          <a:p/>
          <a:p>
            <a:r>
              <a:t>Timing: 15–20 seconds.</a:t>
            </a:r>
          </a:p>
          <a:p/>
          <a:p>
            <a:r>
              <a:t>The administrator reviews a pending receipt and approves it. The member sees APPROVED and a voucher linked to the source order. Repeating the decision must not create another voucher.</a:t>
            </a:r>
          </a:p>
          <a:p/>
          <a:p>
            <a:r>
              <a:t>Use this slide as a brief recap after the live demo.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 journey 3: Admin rejects a receipt</a:t>
            </a:r>
          </a:p>
          <a:p/>
          <a:p>
            <a:r>
              <a:t>Timing: 15–20 seconds.</a:t>
            </a:r>
          </a:p>
          <a:p/>
          <a:p>
            <a:r>
              <a:t>The administrator rejects a pending receipt and may provide a reason. The member sees REJECTED and the reason when one was recorded. No voucher is issued.</a:t>
            </a:r>
          </a:p>
          <a:p/>
          <a:p>
            <a:r>
              <a:t>Use this slide as a brief recap after the live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02920" y="438912"/>
            <a:ext cx="73152" cy="228600"/>
          </a:xfrm>
          <a:prstGeom prst="rect">
            <a:avLst/>
          </a:prstGeom>
          <a:solidFill>
            <a:srgbClr val="225C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38912"/>
            <a:ext cx="5486400" cy="228600"/>
          </a:xfrm>
          <a:prstGeom prst="rect">
            <a:avLst/>
          </a:prstGeom>
          <a:noFill/>
        </p:spPr>
        <p:txBody>
          <a:bodyPr wrap="square" lIns="0" rIns="0" tIns="18288" bIns="18288">
            <a:spAutoFit/>
          </a:bodyPr>
          <a:lstStyle/>
          <a:p>
            <a:pPr>
              <a:spcAft>
                <a:spcPts val="900"/>
              </a:spcAft>
              <a:defRPr sz="1100" b="1">
                <a:solidFill>
                  <a:srgbClr val="225CDB"/>
                </a:solidFill>
                <a:latin typeface="Arial"/>
              </a:defRPr>
            </a:pPr>
            <a:r>
              <a:t>PROOF / PERK   ·   ANTLYSIS</a:t>
            </a:r>
          </a:p>
        </p:txBody>
      </p:sp>
      <p:sp>
        <p:nvSpPr>
          <p:cNvPr id="4" name="TextBox 3"/>
          <p:cNvSpPr txBox="1"/>
          <p:nvPr/>
        </p:nvSpPr>
        <p:spPr>
          <a:xfrm>
            <a:off x="8366760" y="438912"/>
            <a:ext cx="3200400" cy="228600"/>
          </a:xfrm>
          <a:prstGeom prst="rect">
            <a:avLst/>
          </a:prstGeom>
          <a:noFill/>
        </p:spPr>
        <p:txBody>
          <a:bodyPr wrap="square" lIns="0" rIns="0" tIns="18288" bIns="18288">
            <a:spAutoFit/>
          </a:bodyPr>
          <a:lstStyle/>
          <a:p>
            <a:pPr>
              <a:spcAft>
                <a:spcPts val="900"/>
              </a:spcAft>
              <a:defRPr sz="1000" b="0">
                <a:solidFill>
                  <a:srgbClr val="5E6D82"/>
                </a:solidFill>
                <a:latin typeface="Arial"/>
              </a:defRPr>
            </a:pPr>
            <a:r>
              <a:t>01 · REQUIREMENTS</a:t>
            </a:r>
          </a:p>
        </p:txBody>
      </p:sp>
      <p:sp>
        <p:nvSpPr>
          <p:cNvPr id="5" name="TextBox 4"/>
          <p:cNvSpPr txBox="1"/>
          <p:nvPr/>
        </p:nvSpPr>
        <p:spPr>
          <a:xfrm>
            <a:off x="685800" y="987552"/>
            <a:ext cx="10835640" cy="868680"/>
          </a:xfrm>
          <a:prstGeom prst="rect">
            <a:avLst/>
          </a:prstGeom>
          <a:noFill/>
        </p:spPr>
        <p:txBody>
          <a:bodyPr wrap="square" lIns="0" rIns="0" tIns="18288" bIns="18288">
            <a:spAutoFit/>
          </a:bodyPr>
          <a:lstStyle/>
          <a:p>
            <a:pPr>
              <a:spcAft>
                <a:spcPts val="900"/>
              </a:spcAft>
              <a:defRPr sz="3200" b="1">
                <a:solidFill>
                  <a:srgbClr val="17243A"/>
                </a:solidFill>
                <a:latin typeface="Arial"/>
              </a:defRPr>
            </a:pPr>
            <a:r>
              <a:t>Turn validated receipts into traceable rewards.</a:t>
            </a:r>
          </a:p>
        </p:txBody>
      </p:sp>
      <p:sp>
        <p:nvSpPr>
          <p:cNvPr id="6" name="TextBox 5"/>
          <p:cNvSpPr txBox="1"/>
          <p:nvPr/>
        </p:nvSpPr>
        <p:spPr>
          <a:xfrm>
            <a:off x="713232" y="1856231"/>
            <a:ext cx="10698480" cy="502920"/>
          </a:xfrm>
          <a:prstGeom prst="rect">
            <a:avLst/>
          </a:prstGeom>
          <a:noFill/>
        </p:spPr>
        <p:txBody>
          <a:bodyPr wrap="square" lIns="0" rIns="0" tIns="18288" bIns="18288">
            <a:spAutoFit/>
          </a:bodyPr>
          <a:lstStyle/>
          <a:p>
            <a:pPr>
              <a:spcAft>
                <a:spcPts val="900"/>
              </a:spcAft>
              <a:defRPr sz="1600" b="0">
                <a:solidFill>
                  <a:srgbClr val="5E6D82"/>
                </a:solidFill>
                <a:latin typeface="Arial"/>
              </a:defRPr>
            </a:pPr>
            <a:r>
              <a:t>Build a small loyalty program with two roles and a clear approval rule.</a:t>
            </a:r>
          </a:p>
        </p:txBody>
      </p:sp>
      <p:cxnSp>
        <p:nvCxnSpPr>
          <p:cNvPr id="7" name="Connector 6"/>
          <p:cNvCxnSpPr/>
          <p:nvPr/>
        </p:nvCxnSpPr>
        <p:spPr>
          <a:xfrm>
            <a:off x="713232" y="6318504"/>
            <a:ext cx="10762488" cy="0"/>
          </a:xfrm>
          <a:prstGeom prst="line">
            <a:avLst/>
          </a:prstGeom>
          <a:ln w="19050">
            <a:solidFill>
              <a:srgbClr val="D5DDEA"/>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13232" y="6437376"/>
            <a:ext cx="8229600" cy="210312"/>
          </a:xfrm>
          <a:prstGeom prst="rect">
            <a:avLst/>
          </a:prstGeom>
          <a:noFill/>
        </p:spPr>
        <p:txBody>
          <a:bodyPr wrap="square" lIns="0" rIns="0" tIns="18288" bIns="18288">
            <a:spAutoFit/>
          </a:bodyPr>
          <a:lstStyle/>
          <a:p>
            <a:pPr>
              <a:spcAft>
                <a:spcPts val="900"/>
              </a:spcAft>
              <a:defRPr sz="900" b="0">
                <a:solidFill>
                  <a:srgbClr val="5E6D82"/>
                </a:solidFill>
                <a:latin typeface="Arial"/>
              </a:defRPr>
            </a:pPr>
            <a:r>
              <a:t>AMIN H.   /   SECOND-ROUND TECHNICAL INTERVIEW</a:t>
            </a:r>
          </a:p>
        </p:txBody>
      </p:sp>
      <p:sp>
        <p:nvSpPr>
          <p:cNvPr id="9" name="TextBox 8"/>
          <p:cNvSpPr txBox="1"/>
          <p:nvPr/>
        </p:nvSpPr>
        <p:spPr>
          <a:xfrm>
            <a:off x="10835640" y="6419088"/>
            <a:ext cx="731520" cy="237744"/>
          </a:xfrm>
          <a:prstGeom prst="rect">
            <a:avLst/>
          </a:prstGeom>
          <a:noFill/>
        </p:spPr>
        <p:txBody>
          <a:bodyPr wrap="square" lIns="0" rIns="0" tIns="18288" bIns="18288">
            <a:spAutoFit/>
          </a:bodyPr>
          <a:lstStyle/>
          <a:p>
            <a:pPr>
              <a:spcAft>
                <a:spcPts val="900"/>
              </a:spcAft>
              <a:defRPr sz="1000" b="0">
                <a:solidFill>
                  <a:srgbClr val="5E6D82"/>
                </a:solidFill>
                <a:latin typeface="Arial"/>
              </a:defRPr>
            </a:pPr>
            <a:r>
              <a:t>01 / 12</a:t>
            </a:r>
          </a:p>
        </p:txBody>
      </p:sp>
      <p:sp>
        <p:nvSpPr>
          <p:cNvPr id="10" name="TextBox 9"/>
          <p:cNvSpPr txBox="1"/>
          <p:nvPr/>
        </p:nvSpPr>
        <p:spPr>
          <a:xfrm>
            <a:off x="731520" y="2670048"/>
            <a:ext cx="4937760" cy="365760"/>
          </a:xfrm>
          <a:prstGeom prst="rect">
            <a:avLst/>
          </a:prstGeom>
          <a:noFill/>
        </p:spPr>
        <p:txBody>
          <a:bodyPr wrap="square" lIns="0" rIns="0" tIns="18288" bIns="18288">
            <a:spAutoFit/>
          </a:bodyPr>
          <a:lstStyle/>
          <a:p>
            <a:pPr>
              <a:spcAft>
                <a:spcPts val="900"/>
              </a:spcAft>
              <a:defRPr sz="1900" b="1">
                <a:solidFill>
                  <a:srgbClr val="17243A"/>
                </a:solidFill>
                <a:latin typeface="Arial"/>
              </a:defRPr>
            </a:pPr>
            <a:r>
              <a:t>MEMBER</a:t>
            </a:r>
          </a:p>
        </p:txBody>
      </p:sp>
      <p:sp>
        <p:nvSpPr>
          <p:cNvPr id="11" name="TextBox 10"/>
          <p:cNvSpPr txBox="1"/>
          <p:nvPr/>
        </p:nvSpPr>
        <p:spPr>
          <a:xfrm>
            <a:off x="731520" y="3127248"/>
            <a:ext cx="4937760" cy="914400"/>
          </a:xfrm>
          <a:prstGeom prst="rect">
            <a:avLst/>
          </a:prstGeom>
          <a:noFill/>
        </p:spPr>
        <p:txBody>
          <a:bodyPr wrap="square" lIns="0" rIns="0" tIns="18288" bIns="18288">
            <a:spAutoFit/>
          </a:bodyPr>
          <a:lstStyle/>
          <a:p>
            <a:pPr>
              <a:spcAft>
                <a:spcPts val="900"/>
              </a:spcAft>
              <a:defRPr sz="1700" b="0">
                <a:solidFill>
                  <a:srgbClr val="5E6D82"/>
                </a:solidFill>
                <a:latin typeface="Arial"/>
              </a:defRPr>
            </a:pPr>
            <a:r>
              <a:t>Register and sign in</a:t>
            </a:r>
          </a:p>
          <a:p>
            <a:pPr>
              <a:spcAft>
                <a:spcPts val="900"/>
              </a:spcAft>
              <a:defRPr sz="1700" b="0">
                <a:solidFill>
                  <a:srgbClr val="5E6D82"/>
                </a:solidFill>
                <a:latin typeface="Arial"/>
              </a:defRPr>
            </a:pPr>
            <a:r>
              <a:t>Submit receipts, track status, view vouchers</a:t>
            </a:r>
          </a:p>
        </p:txBody>
      </p:sp>
      <p:sp>
        <p:nvSpPr>
          <p:cNvPr id="12" name="TextBox 11"/>
          <p:cNvSpPr txBox="1"/>
          <p:nvPr/>
        </p:nvSpPr>
        <p:spPr>
          <a:xfrm>
            <a:off x="6400800" y="2670048"/>
            <a:ext cx="4937760" cy="365760"/>
          </a:xfrm>
          <a:prstGeom prst="rect">
            <a:avLst/>
          </a:prstGeom>
          <a:noFill/>
        </p:spPr>
        <p:txBody>
          <a:bodyPr wrap="square" lIns="0" rIns="0" tIns="18288" bIns="18288">
            <a:spAutoFit/>
          </a:bodyPr>
          <a:lstStyle/>
          <a:p>
            <a:pPr>
              <a:spcAft>
                <a:spcPts val="900"/>
              </a:spcAft>
              <a:defRPr sz="1900" b="1">
                <a:solidFill>
                  <a:srgbClr val="17243A"/>
                </a:solidFill>
                <a:latin typeface="Arial"/>
              </a:defRPr>
            </a:pPr>
            <a:r>
              <a:t>ADMINISTRATOR</a:t>
            </a:r>
          </a:p>
        </p:txBody>
      </p:sp>
      <p:sp>
        <p:nvSpPr>
          <p:cNvPr id="13" name="TextBox 12"/>
          <p:cNvSpPr txBox="1"/>
          <p:nvPr/>
        </p:nvSpPr>
        <p:spPr>
          <a:xfrm>
            <a:off x="6400800" y="3127248"/>
            <a:ext cx="4937760" cy="914400"/>
          </a:xfrm>
          <a:prstGeom prst="rect">
            <a:avLst/>
          </a:prstGeom>
          <a:noFill/>
        </p:spPr>
        <p:txBody>
          <a:bodyPr wrap="square" lIns="0" rIns="0" tIns="18288" bIns="18288">
            <a:spAutoFit/>
          </a:bodyPr>
          <a:lstStyle/>
          <a:p>
            <a:pPr>
              <a:spcAft>
                <a:spcPts val="900"/>
              </a:spcAft>
              <a:defRPr sz="1700" b="0">
                <a:solidFill>
                  <a:srgbClr val="5E6D82"/>
                </a:solidFill>
                <a:latin typeface="Arial"/>
              </a:defRPr>
            </a:pPr>
            <a:r>
              <a:t>Inspect purchase evidence</a:t>
            </a:r>
          </a:p>
          <a:p>
            <a:pPr>
              <a:spcAft>
                <a:spcPts val="900"/>
              </a:spcAft>
              <a:defRPr sz="1700" b="0">
                <a:solidFill>
                  <a:srgbClr val="5E6D82"/>
                </a:solidFill>
                <a:latin typeface="Arial"/>
              </a:defRPr>
            </a:pPr>
            <a:r>
              <a:t>Approve or reject pending receipts</a:t>
            </a:r>
          </a:p>
        </p:txBody>
      </p:sp>
      <p:cxnSp>
        <p:nvCxnSpPr>
          <p:cNvPr id="14" name="Connector 13"/>
          <p:cNvCxnSpPr/>
          <p:nvPr/>
        </p:nvCxnSpPr>
        <p:spPr>
          <a:xfrm>
            <a:off x="5897880" y="2688336"/>
            <a:ext cx="0" cy="1792224"/>
          </a:xfrm>
          <a:prstGeom prst="line">
            <a:avLst/>
          </a:prstGeom>
          <a:ln w="19050">
            <a:solidFill>
              <a:srgbClr val="D5DDEA"/>
            </a:solidFill>
          </a:ln>
          <a:effectLst/>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13232" y="4736592"/>
            <a:ext cx="10762488" cy="914400"/>
          </a:xfrm>
          <a:prstGeom prst="rect">
            <a:avLst/>
          </a:prstGeom>
          <a:solidFill>
            <a:srgbClr val="10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 y="4965192"/>
            <a:ext cx="10149840" cy="457200"/>
          </a:xfrm>
          <a:prstGeom prst="rect">
            <a:avLst/>
          </a:prstGeom>
          <a:noFill/>
        </p:spPr>
        <p:txBody>
          <a:bodyPr wrap="square" lIns="0" rIns="0" tIns="18288" bIns="18288">
            <a:spAutoFit/>
          </a:bodyPr>
          <a:lstStyle/>
          <a:p>
            <a:pPr>
              <a:spcAft>
                <a:spcPts val="900"/>
              </a:spcAft>
              <a:defRPr sz="2300" b="1">
                <a:solidFill>
                  <a:srgbClr val="FFFFFF"/>
                </a:solidFill>
                <a:latin typeface="Arial"/>
              </a:defRPr>
            </a:pPr>
            <a:r>
              <a:t>One approved receipt → one voucher. Rejection → no voucher.</a:t>
            </a:r>
          </a:p>
        </p:txBody>
      </p:sp>
      <p:sp>
        <p:nvSpPr>
          <p:cNvPr id="17" name="TextBox 16"/>
          <p:cNvSpPr txBox="1"/>
          <p:nvPr/>
        </p:nvSpPr>
        <p:spPr>
          <a:xfrm>
            <a:off x="731520" y="5852160"/>
            <a:ext cx="10789920" cy="274320"/>
          </a:xfrm>
          <a:prstGeom prst="rect">
            <a:avLst/>
          </a:prstGeom>
          <a:noFill/>
        </p:spPr>
        <p:txBody>
          <a:bodyPr wrap="square" lIns="0" rIns="0" tIns="18288" bIns="18288">
            <a:spAutoFit/>
          </a:bodyPr>
          <a:lstStyle/>
          <a:p>
            <a:pPr>
              <a:spcAft>
                <a:spcPts val="900"/>
              </a:spcAft>
              <a:defRPr sz="1300" b="0">
                <a:solidFill>
                  <a:srgbClr val="5E6D82"/>
                </a:solidFill>
                <a:latin typeface="Arial"/>
              </a:defRPr>
            </a:pPr>
            <a:r>
              <a:t>Required stack: React · Node.js + Express · PostgreSQL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02920" y="438912"/>
            <a:ext cx="73152" cy="228600"/>
          </a:xfrm>
          <a:prstGeom prst="rect">
            <a:avLst/>
          </a:prstGeom>
          <a:solidFill>
            <a:srgbClr val="225C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38912"/>
            <a:ext cx="5486400" cy="228600"/>
          </a:xfrm>
          <a:prstGeom prst="rect">
            <a:avLst/>
          </a:prstGeom>
          <a:noFill/>
        </p:spPr>
        <p:txBody>
          <a:bodyPr wrap="square" lIns="0" rIns="0" tIns="18288" bIns="18288">
            <a:spAutoFit/>
          </a:bodyPr>
          <a:lstStyle/>
          <a:p>
            <a:pPr>
              <a:spcAft>
                <a:spcPts val="900"/>
              </a:spcAft>
              <a:defRPr sz="1100" b="1">
                <a:solidFill>
                  <a:srgbClr val="225CDB"/>
                </a:solidFill>
                <a:latin typeface="Arial"/>
              </a:defRPr>
            </a:pPr>
            <a:r>
              <a:t>PROOF / PERK   ·   ANTLYSIS</a:t>
            </a:r>
          </a:p>
        </p:txBody>
      </p:sp>
      <p:sp>
        <p:nvSpPr>
          <p:cNvPr id="4" name="TextBox 3"/>
          <p:cNvSpPr txBox="1"/>
          <p:nvPr/>
        </p:nvSpPr>
        <p:spPr>
          <a:xfrm>
            <a:off x="8366760" y="438912"/>
            <a:ext cx="3200400" cy="228600"/>
          </a:xfrm>
          <a:prstGeom prst="rect">
            <a:avLst/>
          </a:prstGeom>
          <a:noFill/>
        </p:spPr>
        <p:txBody>
          <a:bodyPr wrap="square" lIns="0" rIns="0" tIns="18288" bIns="18288">
            <a:spAutoFit/>
          </a:bodyPr>
          <a:lstStyle/>
          <a:p>
            <a:pPr>
              <a:spcAft>
                <a:spcPts val="900"/>
              </a:spcAft>
              <a:defRPr sz="1000" b="0">
                <a:solidFill>
                  <a:srgbClr val="5E6D82"/>
                </a:solidFill>
                <a:latin typeface="Arial"/>
              </a:defRPr>
            </a:pPr>
            <a:r>
              <a:t>02 · WORKFLOW</a:t>
            </a:r>
          </a:p>
        </p:txBody>
      </p:sp>
      <p:sp>
        <p:nvSpPr>
          <p:cNvPr id="5" name="TextBox 4"/>
          <p:cNvSpPr txBox="1"/>
          <p:nvPr/>
        </p:nvSpPr>
        <p:spPr>
          <a:xfrm>
            <a:off x="685800" y="987552"/>
            <a:ext cx="10835640" cy="868680"/>
          </a:xfrm>
          <a:prstGeom prst="rect">
            <a:avLst/>
          </a:prstGeom>
          <a:noFill/>
        </p:spPr>
        <p:txBody>
          <a:bodyPr wrap="square" lIns="0" rIns="0" tIns="18288" bIns="18288">
            <a:spAutoFit/>
          </a:bodyPr>
          <a:lstStyle/>
          <a:p>
            <a:pPr>
              <a:spcAft>
                <a:spcPts val="900"/>
              </a:spcAft>
              <a:defRPr sz="3200" b="1">
                <a:solidFill>
                  <a:srgbClr val="17243A"/>
                </a:solidFill>
                <a:latin typeface="Arial"/>
              </a:defRPr>
            </a:pPr>
            <a:r>
              <a:t>Every receipt starts pending.</a:t>
            </a:r>
          </a:p>
        </p:txBody>
      </p:sp>
      <p:sp>
        <p:nvSpPr>
          <p:cNvPr id="6" name="TextBox 5"/>
          <p:cNvSpPr txBox="1"/>
          <p:nvPr/>
        </p:nvSpPr>
        <p:spPr>
          <a:xfrm>
            <a:off x="713232" y="1856231"/>
            <a:ext cx="10698480" cy="502920"/>
          </a:xfrm>
          <a:prstGeom prst="rect">
            <a:avLst/>
          </a:prstGeom>
          <a:noFill/>
        </p:spPr>
        <p:txBody>
          <a:bodyPr wrap="square" lIns="0" rIns="0" tIns="18288" bIns="18288">
            <a:spAutoFit/>
          </a:bodyPr>
          <a:lstStyle/>
          <a:p>
            <a:pPr>
              <a:spcAft>
                <a:spcPts val="900"/>
              </a:spcAft>
              <a:defRPr sz="1600" b="0">
                <a:solidFill>
                  <a:srgbClr val="5E6D82"/>
                </a:solidFill>
                <a:latin typeface="Arial"/>
              </a:defRPr>
            </a:pPr>
            <a:r>
              <a:t>The administrator records one final decision; the member can follow the outcome.</a:t>
            </a:r>
          </a:p>
        </p:txBody>
      </p:sp>
      <p:cxnSp>
        <p:nvCxnSpPr>
          <p:cNvPr id="7" name="Connector 6"/>
          <p:cNvCxnSpPr/>
          <p:nvPr/>
        </p:nvCxnSpPr>
        <p:spPr>
          <a:xfrm>
            <a:off x="713232" y="6318504"/>
            <a:ext cx="10762488" cy="0"/>
          </a:xfrm>
          <a:prstGeom prst="line">
            <a:avLst/>
          </a:prstGeom>
          <a:ln w="19050">
            <a:solidFill>
              <a:srgbClr val="D5DDEA"/>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13232" y="6437376"/>
            <a:ext cx="8229600" cy="210312"/>
          </a:xfrm>
          <a:prstGeom prst="rect">
            <a:avLst/>
          </a:prstGeom>
          <a:noFill/>
        </p:spPr>
        <p:txBody>
          <a:bodyPr wrap="square" lIns="0" rIns="0" tIns="18288" bIns="18288">
            <a:spAutoFit/>
          </a:bodyPr>
          <a:lstStyle/>
          <a:p>
            <a:pPr>
              <a:spcAft>
                <a:spcPts val="900"/>
              </a:spcAft>
              <a:defRPr sz="900" b="0">
                <a:solidFill>
                  <a:srgbClr val="5E6D82"/>
                </a:solidFill>
                <a:latin typeface="Arial"/>
              </a:defRPr>
            </a:pPr>
            <a:r>
              <a:t>AMIN H.   /   SECOND-ROUND TECHNICAL INTERVIEW</a:t>
            </a:r>
          </a:p>
        </p:txBody>
      </p:sp>
      <p:sp>
        <p:nvSpPr>
          <p:cNvPr id="9" name="TextBox 8"/>
          <p:cNvSpPr txBox="1"/>
          <p:nvPr/>
        </p:nvSpPr>
        <p:spPr>
          <a:xfrm>
            <a:off x="10835640" y="6419088"/>
            <a:ext cx="731520" cy="237744"/>
          </a:xfrm>
          <a:prstGeom prst="rect">
            <a:avLst/>
          </a:prstGeom>
          <a:noFill/>
        </p:spPr>
        <p:txBody>
          <a:bodyPr wrap="square" lIns="0" rIns="0" tIns="18288" bIns="18288">
            <a:spAutoFit/>
          </a:bodyPr>
          <a:lstStyle/>
          <a:p>
            <a:pPr>
              <a:spcAft>
                <a:spcPts val="900"/>
              </a:spcAft>
              <a:defRPr sz="1000" b="0">
                <a:solidFill>
                  <a:srgbClr val="5E6D82"/>
                </a:solidFill>
                <a:latin typeface="Arial"/>
              </a:defRPr>
            </a:pPr>
            <a:r>
              <a:t>02 / 12</a:t>
            </a:r>
          </a:p>
        </p:txBody>
      </p:sp>
      <p:sp>
        <p:nvSpPr>
          <p:cNvPr id="10" name="Rectangle 9"/>
          <p:cNvSpPr/>
          <p:nvPr/>
        </p:nvSpPr>
        <p:spPr>
          <a:xfrm>
            <a:off x="731520" y="2743200"/>
            <a:ext cx="2743200" cy="1005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880360"/>
            <a:ext cx="2423160" cy="274320"/>
          </a:xfrm>
          <a:prstGeom prst="rect">
            <a:avLst/>
          </a:prstGeom>
          <a:noFill/>
        </p:spPr>
        <p:txBody>
          <a:bodyPr wrap="square" lIns="0" rIns="0" tIns="18288" bIns="18288">
            <a:spAutoFit/>
          </a:bodyPr>
          <a:lstStyle/>
          <a:p>
            <a:pPr>
              <a:spcAft>
                <a:spcPts val="900"/>
              </a:spcAft>
              <a:defRPr sz="1900" b="1">
                <a:solidFill>
                  <a:srgbClr val="225CDB"/>
                </a:solidFill>
                <a:latin typeface="Arial"/>
              </a:defRPr>
            </a:pPr>
            <a:r>
              <a:t>SUBMIT</a:t>
            </a:r>
          </a:p>
        </p:txBody>
      </p:sp>
      <p:sp>
        <p:nvSpPr>
          <p:cNvPr id="12" name="TextBox 11"/>
          <p:cNvSpPr txBox="1"/>
          <p:nvPr/>
        </p:nvSpPr>
        <p:spPr>
          <a:xfrm>
            <a:off x="896112" y="3273552"/>
            <a:ext cx="2423160" cy="320040"/>
          </a:xfrm>
          <a:prstGeom prst="rect">
            <a:avLst/>
          </a:prstGeom>
          <a:noFill/>
        </p:spPr>
        <p:txBody>
          <a:bodyPr wrap="square" lIns="0" rIns="0" tIns="18288" bIns="18288">
            <a:spAutoFit/>
          </a:bodyPr>
          <a:lstStyle/>
          <a:p>
            <a:pPr>
              <a:spcAft>
                <a:spcPts val="900"/>
              </a:spcAft>
              <a:defRPr sz="1300" b="0">
                <a:solidFill>
                  <a:srgbClr val="5E6D82"/>
                </a:solidFill>
                <a:latin typeface="Arial"/>
              </a:defRPr>
            </a:pPr>
            <a:r>
              <a:t>File + order details</a:t>
            </a:r>
          </a:p>
        </p:txBody>
      </p:sp>
      <p:sp>
        <p:nvSpPr>
          <p:cNvPr id="13" name="Rectangle 12"/>
          <p:cNvSpPr/>
          <p:nvPr/>
        </p:nvSpPr>
        <p:spPr>
          <a:xfrm>
            <a:off x="3840480" y="2743200"/>
            <a:ext cx="2743200" cy="1005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05072" y="2880360"/>
            <a:ext cx="2423160" cy="274320"/>
          </a:xfrm>
          <a:prstGeom prst="rect">
            <a:avLst/>
          </a:prstGeom>
          <a:noFill/>
        </p:spPr>
        <p:txBody>
          <a:bodyPr wrap="square" lIns="0" rIns="0" tIns="18288" bIns="18288">
            <a:spAutoFit/>
          </a:bodyPr>
          <a:lstStyle/>
          <a:p>
            <a:pPr>
              <a:spcAft>
                <a:spcPts val="900"/>
              </a:spcAft>
              <a:defRPr sz="1900" b="1">
                <a:solidFill>
                  <a:srgbClr val="225CDB"/>
                </a:solidFill>
                <a:latin typeface="Arial"/>
              </a:defRPr>
            </a:pPr>
            <a:r>
              <a:t>PENDING</a:t>
            </a:r>
          </a:p>
        </p:txBody>
      </p:sp>
      <p:sp>
        <p:nvSpPr>
          <p:cNvPr id="15" name="TextBox 14"/>
          <p:cNvSpPr txBox="1"/>
          <p:nvPr/>
        </p:nvSpPr>
        <p:spPr>
          <a:xfrm>
            <a:off x="4005072" y="3273552"/>
            <a:ext cx="2423160" cy="320040"/>
          </a:xfrm>
          <a:prstGeom prst="rect">
            <a:avLst/>
          </a:prstGeom>
          <a:noFill/>
        </p:spPr>
        <p:txBody>
          <a:bodyPr wrap="square" lIns="0" rIns="0" tIns="18288" bIns="18288">
            <a:spAutoFit/>
          </a:bodyPr>
          <a:lstStyle/>
          <a:p>
            <a:pPr>
              <a:spcAft>
                <a:spcPts val="900"/>
              </a:spcAft>
              <a:defRPr sz="1300" b="0">
                <a:solidFill>
                  <a:srgbClr val="5E6D82"/>
                </a:solidFill>
                <a:latin typeface="Arial"/>
              </a:defRPr>
            </a:pPr>
            <a:r>
              <a:t>Await administrator review</a:t>
            </a:r>
          </a:p>
        </p:txBody>
      </p:sp>
      <p:sp>
        <p:nvSpPr>
          <p:cNvPr id="16" name="TextBox 15"/>
          <p:cNvSpPr txBox="1"/>
          <p:nvPr/>
        </p:nvSpPr>
        <p:spPr>
          <a:xfrm>
            <a:off x="3538728" y="3017520"/>
            <a:ext cx="320040" cy="365760"/>
          </a:xfrm>
          <a:prstGeom prst="rect">
            <a:avLst/>
          </a:prstGeom>
          <a:noFill/>
        </p:spPr>
        <p:txBody>
          <a:bodyPr wrap="square" lIns="0" rIns="0" tIns="18288" bIns="18288">
            <a:spAutoFit/>
          </a:bodyPr>
          <a:lstStyle/>
          <a:p>
            <a:pPr>
              <a:spcAft>
                <a:spcPts val="900"/>
              </a:spcAft>
              <a:defRPr sz="2400" b="0">
                <a:solidFill>
                  <a:srgbClr val="225CDB"/>
                </a:solidFill>
                <a:latin typeface="Arial"/>
              </a:defRPr>
            </a:pPr>
            <a:r>
              <a:t>→</a:t>
            </a:r>
          </a:p>
        </p:txBody>
      </p:sp>
      <p:cxnSp>
        <p:nvCxnSpPr>
          <p:cNvPr id="17" name="Connector 16"/>
          <p:cNvCxnSpPr/>
          <p:nvPr/>
        </p:nvCxnSpPr>
        <p:spPr>
          <a:xfrm>
            <a:off x="6583680" y="3246120"/>
            <a:ext cx="457200" cy="0"/>
          </a:xfrm>
          <a:prstGeom prst="line">
            <a:avLst/>
          </a:prstGeom>
          <a:ln w="19050">
            <a:solidFill>
              <a:srgbClr val="225CDB"/>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040880" y="2971800"/>
            <a:ext cx="0" cy="1280160"/>
          </a:xfrm>
          <a:prstGeom prst="line">
            <a:avLst/>
          </a:prstGeom>
          <a:ln w="19050">
            <a:solidFill>
              <a:srgbClr val="225CDB"/>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040880" y="2971800"/>
            <a:ext cx="320040" cy="0"/>
          </a:xfrm>
          <a:prstGeom prst="line">
            <a:avLst/>
          </a:prstGeom>
          <a:ln w="19050">
            <a:solidFill>
              <a:srgbClr val="225CDB"/>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040880" y="4251960"/>
            <a:ext cx="320040" cy="0"/>
          </a:xfrm>
          <a:prstGeom prst="line">
            <a:avLst/>
          </a:prstGeom>
          <a:ln w="19050">
            <a:solidFill>
              <a:srgbClr val="225CDB"/>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7360920" y="2523744"/>
            <a:ext cx="4096512" cy="10241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60920" y="2523744"/>
            <a:ext cx="50292" cy="1024128"/>
          </a:xfrm>
          <a:prstGeom prst="rect">
            <a:avLst/>
          </a:prstGeom>
          <a:solidFill>
            <a:srgbClr val="167D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71231" y="2670048"/>
            <a:ext cx="3749039" cy="320040"/>
          </a:xfrm>
          <a:prstGeom prst="rect">
            <a:avLst/>
          </a:prstGeom>
          <a:noFill/>
        </p:spPr>
        <p:txBody>
          <a:bodyPr wrap="square" lIns="0" rIns="0" tIns="18288" bIns="18288">
            <a:spAutoFit/>
          </a:bodyPr>
          <a:lstStyle/>
          <a:p>
            <a:pPr>
              <a:spcAft>
                <a:spcPts val="900"/>
              </a:spcAft>
              <a:defRPr sz="1900" b="1">
                <a:solidFill>
                  <a:srgbClr val="167D65"/>
                </a:solidFill>
                <a:latin typeface="Arial"/>
              </a:defRPr>
            </a:pPr>
            <a:r>
              <a:t>APPROVED</a:t>
            </a:r>
          </a:p>
        </p:txBody>
      </p:sp>
      <p:sp>
        <p:nvSpPr>
          <p:cNvPr id="24" name="TextBox 23"/>
          <p:cNvSpPr txBox="1"/>
          <p:nvPr/>
        </p:nvSpPr>
        <p:spPr>
          <a:xfrm>
            <a:off x="7571231" y="3108960"/>
            <a:ext cx="3657600" cy="301752"/>
          </a:xfrm>
          <a:prstGeom prst="rect">
            <a:avLst/>
          </a:prstGeom>
          <a:noFill/>
        </p:spPr>
        <p:txBody>
          <a:bodyPr wrap="square" lIns="0" rIns="0" tIns="18288" bIns="18288">
            <a:spAutoFit/>
          </a:bodyPr>
          <a:lstStyle/>
          <a:p>
            <a:pPr>
              <a:spcAft>
                <a:spcPts val="900"/>
              </a:spcAft>
              <a:defRPr sz="1400" b="0">
                <a:solidFill>
                  <a:srgbClr val="5E6D82"/>
                </a:solidFill>
                <a:latin typeface="Arial"/>
              </a:defRPr>
            </a:pPr>
            <a:r>
              <a:t>Exactly one linked voucher</a:t>
            </a:r>
          </a:p>
        </p:txBody>
      </p:sp>
      <p:sp>
        <p:nvSpPr>
          <p:cNvPr id="25" name="Rectangle 24"/>
          <p:cNvSpPr/>
          <p:nvPr/>
        </p:nvSpPr>
        <p:spPr>
          <a:xfrm>
            <a:off x="7360920" y="3803904"/>
            <a:ext cx="4096512" cy="10241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60920" y="3803904"/>
            <a:ext cx="50292" cy="1024128"/>
          </a:xfrm>
          <a:prstGeom prst="rect">
            <a:avLst/>
          </a:prstGeom>
          <a:solidFill>
            <a:srgbClr val="B84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71231" y="3950208"/>
            <a:ext cx="3749039" cy="320040"/>
          </a:xfrm>
          <a:prstGeom prst="rect">
            <a:avLst/>
          </a:prstGeom>
          <a:noFill/>
        </p:spPr>
        <p:txBody>
          <a:bodyPr wrap="square" lIns="0" rIns="0" tIns="18288" bIns="18288">
            <a:spAutoFit/>
          </a:bodyPr>
          <a:lstStyle/>
          <a:p>
            <a:pPr>
              <a:spcAft>
                <a:spcPts val="900"/>
              </a:spcAft>
              <a:defRPr sz="1900" b="1">
                <a:solidFill>
                  <a:srgbClr val="B84048"/>
                </a:solidFill>
                <a:latin typeface="Arial"/>
              </a:defRPr>
            </a:pPr>
            <a:r>
              <a:t>REJECTED</a:t>
            </a:r>
          </a:p>
        </p:txBody>
      </p:sp>
      <p:sp>
        <p:nvSpPr>
          <p:cNvPr id="28" name="TextBox 27"/>
          <p:cNvSpPr txBox="1"/>
          <p:nvPr/>
        </p:nvSpPr>
        <p:spPr>
          <a:xfrm>
            <a:off x="7571231" y="4389120"/>
            <a:ext cx="3657600" cy="301752"/>
          </a:xfrm>
          <a:prstGeom prst="rect">
            <a:avLst/>
          </a:prstGeom>
          <a:noFill/>
        </p:spPr>
        <p:txBody>
          <a:bodyPr wrap="square" lIns="0" rIns="0" tIns="18288" bIns="18288">
            <a:spAutoFit/>
          </a:bodyPr>
          <a:lstStyle/>
          <a:p>
            <a:pPr>
              <a:spcAft>
                <a:spcPts val="900"/>
              </a:spcAft>
              <a:defRPr sz="1400" b="0">
                <a:solidFill>
                  <a:srgbClr val="5E6D82"/>
                </a:solidFill>
                <a:latin typeface="Arial"/>
              </a:defRPr>
            </a:pPr>
            <a:r>
              <a:t>No voucher; reason can be recorded</a:t>
            </a:r>
          </a:p>
        </p:txBody>
      </p:sp>
      <p:sp>
        <p:nvSpPr>
          <p:cNvPr id="29" name="TextBox 28"/>
          <p:cNvSpPr txBox="1"/>
          <p:nvPr/>
        </p:nvSpPr>
        <p:spPr>
          <a:xfrm>
            <a:off x="731520" y="5404104"/>
            <a:ext cx="10698480" cy="548640"/>
          </a:xfrm>
          <a:prstGeom prst="rect">
            <a:avLst/>
          </a:prstGeom>
          <a:noFill/>
        </p:spPr>
        <p:txBody>
          <a:bodyPr wrap="square" lIns="0" rIns="0" tIns="18288" bIns="18288">
            <a:spAutoFit/>
          </a:bodyPr>
          <a:lstStyle/>
          <a:p>
            <a:pPr>
              <a:spcAft>
                <a:spcPts val="900"/>
              </a:spcAft>
              <a:defRPr sz="2300" b="1">
                <a:solidFill>
                  <a:srgbClr val="17243A"/>
                </a:solidFill>
                <a:latin typeface="Arial"/>
              </a:defRPr>
            </a:pPr>
            <a:r>
              <a:t>A second decision returns 409 ALREADY_PROCESSED.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02920" y="438912"/>
            <a:ext cx="73152" cy="228600"/>
          </a:xfrm>
          <a:prstGeom prst="rect">
            <a:avLst/>
          </a:prstGeom>
          <a:solidFill>
            <a:srgbClr val="225C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38912"/>
            <a:ext cx="5486400" cy="228600"/>
          </a:xfrm>
          <a:prstGeom prst="rect">
            <a:avLst/>
          </a:prstGeom>
          <a:noFill/>
        </p:spPr>
        <p:txBody>
          <a:bodyPr wrap="square" lIns="0" rIns="0" tIns="18288" bIns="18288">
            <a:spAutoFit/>
          </a:bodyPr>
          <a:lstStyle/>
          <a:p>
            <a:pPr>
              <a:spcAft>
                <a:spcPts val="900"/>
              </a:spcAft>
              <a:defRPr sz="1100" b="1">
                <a:solidFill>
                  <a:srgbClr val="225CDB"/>
                </a:solidFill>
                <a:latin typeface="Arial"/>
              </a:defRPr>
            </a:pPr>
            <a:r>
              <a:t>PROOF / PERK   ·   ANTLYSIS</a:t>
            </a:r>
          </a:p>
        </p:txBody>
      </p:sp>
      <p:sp>
        <p:nvSpPr>
          <p:cNvPr id="4" name="TextBox 3"/>
          <p:cNvSpPr txBox="1"/>
          <p:nvPr/>
        </p:nvSpPr>
        <p:spPr>
          <a:xfrm>
            <a:off x="8366760" y="438912"/>
            <a:ext cx="3200400" cy="228600"/>
          </a:xfrm>
          <a:prstGeom prst="rect">
            <a:avLst/>
          </a:prstGeom>
          <a:noFill/>
        </p:spPr>
        <p:txBody>
          <a:bodyPr wrap="square" lIns="0" rIns="0" tIns="18288" bIns="18288">
            <a:spAutoFit/>
          </a:bodyPr>
          <a:lstStyle/>
          <a:p>
            <a:pPr>
              <a:spcAft>
                <a:spcPts val="900"/>
              </a:spcAft>
              <a:defRPr sz="1000" b="0">
                <a:solidFill>
                  <a:srgbClr val="5E6D82"/>
                </a:solidFill>
                <a:latin typeface="Arial"/>
              </a:defRPr>
            </a:pPr>
            <a:r>
              <a:t>03 · ARCHITECTURE</a:t>
            </a:r>
          </a:p>
        </p:txBody>
      </p:sp>
      <p:sp>
        <p:nvSpPr>
          <p:cNvPr id="5" name="TextBox 4"/>
          <p:cNvSpPr txBox="1"/>
          <p:nvPr/>
        </p:nvSpPr>
        <p:spPr>
          <a:xfrm>
            <a:off x="685800" y="987552"/>
            <a:ext cx="10835640" cy="868680"/>
          </a:xfrm>
          <a:prstGeom prst="rect">
            <a:avLst/>
          </a:prstGeom>
          <a:noFill/>
        </p:spPr>
        <p:txBody>
          <a:bodyPr wrap="square" lIns="0" rIns="0" tIns="18288" bIns="18288">
            <a:spAutoFit/>
          </a:bodyPr>
          <a:lstStyle/>
          <a:p>
            <a:pPr>
              <a:spcAft>
                <a:spcPts val="900"/>
              </a:spcAft>
              <a:defRPr sz="3200" b="1">
                <a:solidFill>
                  <a:srgbClr val="17243A"/>
                </a:solidFill>
                <a:latin typeface="Arial"/>
              </a:defRPr>
            </a:pPr>
            <a:r>
              <a:t>One application, with clear responsibilities.</a:t>
            </a:r>
          </a:p>
        </p:txBody>
      </p:sp>
      <p:sp>
        <p:nvSpPr>
          <p:cNvPr id="6" name="TextBox 5"/>
          <p:cNvSpPr txBox="1"/>
          <p:nvPr/>
        </p:nvSpPr>
        <p:spPr>
          <a:xfrm>
            <a:off x="713232" y="1856231"/>
            <a:ext cx="10698480" cy="502920"/>
          </a:xfrm>
          <a:prstGeom prst="rect">
            <a:avLst/>
          </a:prstGeom>
          <a:noFill/>
        </p:spPr>
        <p:txBody>
          <a:bodyPr wrap="square" lIns="0" rIns="0" tIns="18288" bIns="18288">
            <a:spAutoFit/>
          </a:bodyPr>
          <a:lstStyle/>
          <a:p>
            <a:pPr>
              <a:spcAft>
                <a:spcPts val="900"/>
              </a:spcAft>
              <a:defRPr sz="1600" b="0">
                <a:solidFill>
                  <a:srgbClr val="5E6D82"/>
                </a:solidFill>
                <a:latin typeface="Arial"/>
              </a:defRPr>
            </a:pPr>
            <a:r>
              <a:t>React presents the workflow. Express enforces the rules. PostgreSQL protects the records.</a:t>
            </a:r>
          </a:p>
        </p:txBody>
      </p:sp>
      <p:cxnSp>
        <p:nvCxnSpPr>
          <p:cNvPr id="7" name="Connector 6"/>
          <p:cNvCxnSpPr/>
          <p:nvPr/>
        </p:nvCxnSpPr>
        <p:spPr>
          <a:xfrm>
            <a:off x="713232" y="6318504"/>
            <a:ext cx="10762488" cy="0"/>
          </a:xfrm>
          <a:prstGeom prst="line">
            <a:avLst/>
          </a:prstGeom>
          <a:ln w="19050">
            <a:solidFill>
              <a:srgbClr val="D5DDEA"/>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13232" y="6437376"/>
            <a:ext cx="8229600" cy="210312"/>
          </a:xfrm>
          <a:prstGeom prst="rect">
            <a:avLst/>
          </a:prstGeom>
          <a:noFill/>
        </p:spPr>
        <p:txBody>
          <a:bodyPr wrap="square" lIns="0" rIns="0" tIns="18288" bIns="18288">
            <a:spAutoFit/>
          </a:bodyPr>
          <a:lstStyle/>
          <a:p>
            <a:pPr>
              <a:spcAft>
                <a:spcPts val="900"/>
              </a:spcAft>
              <a:defRPr sz="900" b="0">
                <a:solidFill>
                  <a:srgbClr val="5E6D82"/>
                </a:solidFill>
                <a:latin typeface="Arial"/>
              </a:defRPr>
            </a:pPr>
            <a:r>
              <a:t>AMIN H.   /   SECOND-ROUND TECHNICAL INTERVIEW</a:t>
            </a:r>
          </a:p>
        </p:txBody>
      </p:sp>
      <p:sp>
        <p:nvSpPr>
          <p:cNvPr id="9" name="TextBox 8"/>
          <p:cNvSpPr txBox="1"/>
          <p:nvPr/>
        </p:nvSpPr>
        <p:spPr>
          <a:xfrm>
            <a:off x="10835640" y="6419088"/>
            <a:ext cx="731520" cy="237744"/>
          </a:xfrm>
          <a:prstGeom prst="rect">
            <a:avLst/>
          </a:prstGeom>
          <a:noFill/>
        </p:spPr>
        <p:txBody>
          <a:bodyPr wrap="square" lIns="0" rIns="0" tIns="18288" bIns="18288">
            <a:spAutoFit/>
          </a:bodyPr>
          <a:lstStyle/>
          <a:p>
            <a:pPr>
              <a:spcAft>
                <a:spcPts val="900"/>
              </a:spcAft>
              <a:defRPr sz="1000" b="0">
                <a:solidFill>
                  <a:srgbClr val="5E6D82"/>
                </a:solidFill>
                <a:latin typeface="Arial"/>
              </a:defRPr>
            </a:pPr>
            <a:r>
              <a:t>03 / 12</a:t>
            </a:r>
          </a:p>
        </p:txBody>
      </p:sp>
      <p:sp>
        <p:nvSpPr>
          <p:cNvPr id="10" name="Rectangle 9"/>
          <p:cNvSpPr/>
          <p:nvPr/>
        </p:nvSpPr>
        <p:spPr>
          <a:xfrm>
            <a:off x="731520" y="2743200"/>
            <a:ext cx="3200400" cy="1463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907792"/>
            <a:ext cx="2852928" cy="365760"/>
          </a:xfrm>
          <a:prstGeom prst="rect">
            <a:avLst/>
          </a:prstGeom>
          <a:noFill/>
        </p:spPr>
        <p:txBody>
          <a:bodyPr wrap="square" lIns="0" rIns="0" tIns="18288" bIns="18288">
            <a:spAutoFit/>
          </a:bodyPr>
          <a:lstStyle/>
          <a:p>
            <a:pPr>
              <a:spcAft>
                <a:spcPts val="900"/>
              </a:spcAft>
              <a:defRPr sz="1900" b="1">
                <a:solidFill>
                  <a:srgbClr val="225CDB"/>
                </a:solidFill>
                <a:latin typeface="Arial"/>
              </a:defRPr>
            </a:pPr>
            <a:r>
              <a:t>REACT + VITE</a:t>
            </a:r>
          </a:p>
        </p:txBody>
      </p:sp>
      <p:sp>
        <p:nvSpPr>
          <p:cNvPr id="12" name="TextBox 11"/>
          <p:cNvSpPr txBox="1"/>
          <p:nvPr/>
        </p:nvSpPr>
        <p:spPr>
          <a:xfrm>
            <a:off x="896112" y="3447288"/>
            <a:ext cx="2834640" cy="658368"/>
          </a:xfrm>
          <a:prstGeom prst="rect">
            <a:avLst/>
          </a:prstGeom>
          <a:noFill/>
        </p:spPr>
        <p:txBody>
          <a:bodyPr wrap="square" lIns="0" rIns="0" tIns="18288" bIns="18288">
            <a:spAutoFit/>
          </a:bodyPr>
          <a:lstStyle/>
          <a:p>
            <a:pPr>
              <a:spcAft>
                <a:spcPts val="900"/>
              </a:spcAft>
              <a:defRPr sz="1600" b="0">
                <a:solidFill>
                  <a:srgbClr val="5E6D82"/>
                </a:solidFill>
                <a:latin typeface="Arial"/>
              </a:defRPr>
            </a:pPr>
            <a:r>
              <a:t>shadcn/ui + Tailwind</a:t>
            </a:r>
          </a:p>
          <a:p>
            <a:pPr>
              <a:spcAft>
                <a:spcPts val="900"/>
              </a:spcAft>
              <a:defRPr sz="1600" b="0">
                <a:solidFill>
                  <a:srgbClr val="5E6D82"/>
                </a:solidFill>
                <a:latin typeface="Arial"/>
              </a:defRPr>
            </a:pPr>
            <a:r>
              <a:t>Forms and feedback</a:t>
            </a:r>
          </a:p>
        </p:txBody>
      </p:sp>
      <p:sp>
        <p:nvSpPr>
          <p:cNvPr id="13" name="Rectangle 12"/>
          <p:cNvSpPr/>
          <p:nvPr/>
        </p:nvSpPr>
        <p:spPr>
          <a:xfrm>
            <a:off x="4480560" y="2743200"/>
            <a:ext cx="3200400" cy="1463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5152" y="2907792"/>
            <a:ext cx="2852928" cy="365760"/>
          </a:xfrm>
          <a:prstGeom prst="rect">
            <a:avLst/>
          </a:prstGeom>
          <a:noFill/>
        </p:spPr>
        <p:txBody>
          <a:bodyPr wrap="square" lIns="0" rIns="0" tIns="18288" bIns="18288">
            <a:spAutoFit/>
          </a:bodyPr>
          <a:lstStyle/>
          <a:p>
            <a:pPr>
              <a:spcAft>
                <a:spcPts val="900"/>
              </a:spcAft>
              <a:defRPr sz="1900" b="1">
                <a:solidFill>
                  <a:srgbClr val="225CDB"/>
                </a:solidFill>
                <a:latin typeface="Arial"/>
              </a:defRPr>
            </a:pPr>
            <a:r>
              <a:t>EXPRESS API</a:t>
            </a:r>
          </a:p>
        </p:txBody>
      </p:sp>
      <p:sp>
        <p:nvSpPr>
          <p:cNvPr id="15" name="TextBox 14"/>
          <p:cNvSpPr txBox="1"/>
          <p:nvPr/>
        </p:nvSpPr>
        <p:spPr>
          <a:xfrm>
            <a:off x="4645152" y="3447288"/>
            <a:ext cx="2834640" cy="658368"/>
          </a:xfrm>
          <a:prstGeom prst="rect">
            <a:avLst/>
          </a:prstGeom>
          <a:noFill/>
        </p:spPr>
        <p:txBody>
          <a:bodyPr wrap="square" lIns="0" rIns="0" tIns="18288" bIns="18288">
            <a:spAutoFit/>
          </a:bodyPr>
          <a:lstStyle/>
          <a:p>
            <a:pPr>
              <a:spcAft>
                <a:spcPts val="900"/>
              </a:spcAft>
              <a:defRPr sz="1600" b="0">
                <a:solidFill>
                  <a:srgbClr val="5E6D82"/>
                </a:solidFill>
                <a:latin typeface="Arial"/>
              </a:defRPr>
            </a:pPr>
            <a:r>
              <a:t>Access and validation</a:t>
            </a:r>
          </a:p>
          <a:p>
            <a:pPr>
              <a:spcAft>
                <a:spcPts val="900"/>
              </a:spcAft>
              <a:defRPr sz="1600" b="0">
                <a:solidFill>
                  <a:srgbClr val="5E6D82"/>
                </a:solidFill>
                <a:latin typeface="Arial"/>
              </a:defRPr>
            </a:pPr>
            <a:r>
              <a:t>Receipt decisions</a:t>
            </a:r>
          </a:p>
        </p:txBody>
      </p:sp>
      <p:sp>
        <p:nvSpPr>
          <p:cNvPr id="16" name="TextBox 15"/>
          <p:cNvSpPr txBox="1"/>
          <p:nvPr/>
        </p:nvSpPr>
        <p:spPr>
          <a:xfrm>
            <a:off x="4023360" y="3246120"/>
            <a:ext cx="411480" cy="411480"/>
          </a:xfrm>
          <a:prstGeom prst="rect">
            <a:avLst/>
          </a:prstGeom>
          <a:noFill/>
        </p:spPr>
        <p:txBody>
          <a:bodyPr wrap="square" lIns="0" rIns="0" tIns="18288" bIns="18288">
            <a:spAutoFit/>
          </a:bodyPr>
          <a:lstStyle/>
          <a:p>
            <a:pPr>
              <a:spcAft>
                <a:spcPts val="900"/>
              </a:spcAft>
              <a:defRPr sz="2500" b="0">
                <a:solidFill>
                  <a:srgbClr val="225CDB"/>
                </a:solidFill>
                <a:latin typeface="Arial"/>
              </a:defRPr>
            </a:pPr>
            <a:r>
              <a:t>↔</a:t>
            </a:r>
          </a:p>
        </p:txBody>
      </p:sp>
      <p:sp>
        <p:nvSpPr>
          <p:cNvPr id="17" name="TextBox 16"/>
          <p:cNvSpPr txBox="1"/>
          <p:nvPr/>
        </p:nvSpPr>
        <p:spPr>
          <a:xfrm>
            <a:off x="3566160" y="2468880"/>
            <a:ext cx="1234440" cy="228600"/>
          </a:xfrm>
          <a:prstGeom prst="rect">
            <a:avLst/>
          </a:prstGeom>
          <a:noFill/>
        </p:spPr>
        <p:txBody>
          <a:bodyPr wrap="square" lIns="0" rIns="0" tIns="18288" bIns="18288">
            <a:spAutoFit/>
          </a:bodyPr>
          <a:lstStyle/>
          <a:p>
            <a:pPr>
              <a:spcAft>
                <a:spcPts val="900"/>
              </a:spcAft>
              <a:defRPr sz="1000" b="0">
                <a:solidFill>
                  <a:srgbClr val="5E6D82"/>
                </a:solidFill>
                <a:latin typeface="Arial"/>
              </a:defRPr>
            </a:pPr>
            <a:r>
              <a:t>REST / JSON</a:t>
            </a:r>
          </a:p>
        </p:txBody>
      </p:sp>
      <p:sp>
        <p:nvSpPr>
          <p:cNvPr id="18" name="Rectangle 17"/>
          <p:cNvSpPr/>
          <p:nvPr/>
        </p:nvSpPr>
        <p:spPr>
          <a:xfrm>
            <a:off x="8366760" y="2606040"/>
            <a:ext cx="310896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40" y="2734056"/>
            <a:ext cx="2743200" cy="320040"/>
          </a:xfrm>
          <a:prstGeom prst="rect">
            <a:avLst/>
          </a:prstGeom>
          <a:noFill/>
        </p:spPr>
        <p:txBody>
          <a:bodyPr wrap="square" lIns="0" rIns="0" tIns="18288" bIns="18288">
            <a:spAutoFit/>
          </a:bodyPr>
          <a:lstStyle/>
          <a:p>
            <a:pPr>
              <a:spcAft>
                <a:spcPts val="900"/>
              </a:spcAft>
              <a:defRPr sz="1600" b="1">
                <a:solidFill>
                  <a:srgbClr val="225CDB"/>
                </a:solidFill>
                <a:latin typeface="Arial"/>
              </a:defRPr>
            </a:pPr>
            <a:r>
              <a:t>POSTGRESQL</a:t>
            </a:r>
          </a:p>
        </p:txBody>
      </p:sp>
      <p:sp>
        <p:nvSpPr>
          <p:cNvPr id="20" name="TextBox 19"/>
          <p:cNvSpPr txBox="1"/>
          <p:nvPr/>
        </p:nvSpPr>
        <p:spPr>
          <a:xfrm>
            <a:off x="8549640" y="3191256"/>
            <a:ext cx="2743200" cy="365760"/>
          </a:xfrm>
          <a:prstGeom prst="rect">
            <a:avLst/>
          </a:prstGeom>
          <a:noFill/>
        </p:spPr>
        <p:txBody>
          <a:bodyPr wrap="square" lIns="0" rIns="0" tIns="18288" bIns="18288">
            <a:spAutoFit/>
          </a:bodyPr>
          <a:lstStyle/>
          <a:p>
            <a:pPr>
              <a:spcAft>
                <a:spcPts val="900"/>
              </a:spcAft>
              <a:defRPr sz="1400" b="0">
                <a:solidFill>
                  <a:srgbClr val="5E6D82"/>
                </a:solidFill>
                <a:latin typeface="Arial"/>
              </a:defRPr>
            </a:pPr>
            <a:r>
              <a:t>Users, receipts, vouchers</a:t>
            </a:r>
          </a:p>
        </p:txBody>
      </p:sp>
      <p:sp>
        <p:nvSpPr>
          <p:cNvPr id="21" name="Rectangle 20"/>
          <p:cNvSpPr/>
          <p:nvPr/>
        </p:nvSpPr>
        <p:spPr>
          <a:xfrm>
            <a:off x="8366760" y="3977639"/>
            <a:ext cx="310896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49640" y="4105655"/>
            <a:ext cx="2743200" cy="320040"/>
          </a:xfrm>
          <a:prstGeom prst="rect">
            <a:avLst/>
          </a:prstGeom>
          <a:noFill/>
        </p:spPr>
        <p:txBody>
          <a:bodyPr wrap="square" lIns="0" rIns="0" tIns="18288" bIns="18288">
            <a:spAutoFit/>
          </a:bodyPr>
          <a:lstStyle/>
          <a:p>
            <a:pPr>
              <a:spcAft>
                <a:spcPts val="900"/>
              </a:spcAft>
              <a:defRPr sz="1600" b="1">
                <a:solidFill>
                  <a:srgbClr val="225CDB"/>
                </a:solidFill>
                <a:latin typeface="Arial"/>
              </a:defRPr>
            </a:pPr>
            <a:r>
              <a:t>PRIVATE FILE VOLUME</a:t>
            </a:r>
          </a:p>
        </p:txBody>
      </p:sp>
      <p:sp>
        <p:nvSpPr>
          <p:cNvPr id="23" name="TextBox 22"/>
          <p:cNvSpPr txBox="1"/>
          <p:nvPr/>
        </p:nvSpPr>
        <p:spPr>
          <a:xfrm>
            <a:off x="8549640" y="4562855"/>
            <a:ext cx="2743200" cy="365760"/>
          </a:xfrm>
          <a:prstGeom prst="rect">
            <a:avLst/>
          </a:prstGeom>
          <a:noFill/>
        </p:spPr>
        <p:txBody>
          <a:bodyPr wrap="square" lIns="0" rIns="0" tIns="18288" bIns="18288">
            <a:spAutoFit/>
          </a:bodyPr>
          <a:lstStyle/>
          <a:p>
            <a:pPr>
              <a:spcAft>
                <a:spcPts val="900"/>
              </a:spcAft>
              <a:defRPr sz="1400" b="0">
                <a:solidFill>
                  <a:srgbClr val="5E6D82"/>
                </a:solidFill>
                <a:latin typeface="Arial"/>
              </a:defRPr>
            </a:pPr>
            <a:r>
              <a:t>Receipt images and PDFs</a:t>
            </a:r>
          </a:p>
        </p:txBody>
      </p:sp>
      <p:cxnSp>
        <p:nvCxnSpPr>
          <p:cNvPr id="24" name="Connector 23"/>
          <p:cNvCxnSpPr/>
          <p:nvPr/>
        </p:nvCxnSpPr>
        <p:spPr>
          <a:xfrm>
            <a:off x="7680960" y="3474720"/>
            <a:ext cx="320040" cy="0"/>
          </a:xfrm>
          <a:prstGeom prst="line">
            <a:avLst/>
          </a:prstGeom>
          <a:ln w="19050">
            <a:solidFill>
              <a:srgbClr val="225CD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01000" y="3108960"/>
            <a:ext cx="0" cy="1325880"/>
          </a:xfrm>
          <a:prstGeom prst="line">
            <a:avLst/>
          </a:prstGeom>
          <a:ln w="19050">
            <a:solidFill>
              <a:srgbClr val="225CD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001000" y="3108960"/>
            <a:ext cx="365760" cy="0"/>
          </a:xfrm>
          <a:prstGeom prst="line">
            <a:avLst/>
          </a:prstGeom>
          <a:ln w="19050">
            <a:solidFill>
              <a:srgbClr val="225CD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001000" y="4434840"/>
            <a:ext cx="365760" cy="0"/>
          </a:xfrm>
          <a:prstGeom prst="line">
            <a:avLst/>
          </a:prstGeom>
          <a:ln w="19050">
            <a:solidFill>
              <a:srgbClr val="225CDB"/>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31520" y="5477256"/>
            <a:ext cx="10698480" cy="548640"/>
          </a:xfrm>
          <a:prstGeom prst="rect">
            <a:avLst/>
          </a:prstGeom>
          <a:noFill/>
        </p:spPr>
        <p:txBody>
          <a:bodyPr wrap="square" lIns="0" rIns="0" tIns="18288" bIns="18288">
            <a:spAutoFit/>
          </a:bodyPr>
          <a:lstStyle/>
          <a:p>
            <a:pPr>
              <a:spcAft>
                <a:spcPts val="900"/>
              </a:spcAft>
              <a:defRPr sz="2100" b="1">
                <a:solidFill>
                  <a:srgbClr val="17243A"/>
                </a:solidFill>
                <a:latin typeface="Arial"/>
              </a:defRPr>
            </a:pPr>
            <a:r>
              <a:t>Raw SQL keeps the small data model and approval transaction easy to inspect.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02920" y="438912"/>
            <a:ext cx="73152" cy="228600"/>
          </a:xfrm>
          <a:prstGeom prst="rect">
            <a:avLst/>
          </a:prstGeom>
          <a:solidFill>
            <a:srgbClr val="225C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38912"/>
            <a:ext cx="5486400" cy="228600"/>
          </a:xfrm>
          <a:prstGeom prst="rect">
            <a:avLst/>
          </a:prstGeom>
          <a:noFill/>
        </p:spPr>
        <p:txBody>
          <a:bodyPr wrap="square" lIns="0" rIns="0" tIns="18288" bIns="18288">
            <a:spAutoFit/>
          </a:bodyPr>
          <a:lstStyle/>
          <a:p>
            <a:pPr>
              <a:spcAft>
                <a:spcPts val="900"/>
              </a:spcAft>
              <a:defRPr sz="1100" b="1">
                <a:solidFill>
                  <a:srgbClr val="225CDB"/>
                </a:solidFill>
                <a:latin typeface="Arial"/>
              </a:defRPr>
            </a:pPr>
            <a:r>
              <a:t>PROOF / PERK   ·   ANTLYSIS</a:t>
            </a:r>
          </a:p>
        </p:txBody>
      </p:sp>
      <p:sp>
        <p:nvSpPr>
          <p:cNvPr id="4" name="TextBox 3"/>
          <p:cNvSpPr txBox="1"/>
          <p:nvPr/>
        </p:nvSpPr>
        <p:spPr>
          <a:xfrm>
            <a:off x="8366760" y="438912"/>
            <a:ext cx="3200400" cy="228600"/>
          </a:xfrm>
          <a:prstGeom prst="rect">
            <a:avLst/>
          </a:prstGeom>
          <a:noFill/>
        </p:spPr>
        <p:txBody>
          <a:bodyPr wrap="square" lIns="0" rIns="0" tIns="18288" bIns="18288">
            <a:spAutoFit/>
          </a:bodyPr>
          <a:lstStyle/>
          <a:p>
            <a:pPr>
              <a:spcAft>
                <a:spcPts val="900"/>
              </a:spcAft>
              <a:defRPr sz="1000" b="0">
                <a:solidFill>
                  <a:srgbClr val="5E6D82"/>
                </a:solidFill>
                <a:latin typeface="Arial"/>
              </a:defRPr>
            </a:pPr>
            <a:r>
              <a:t>04 · DATA MODEL</a:t>
            </a:r>
          </a:p>
        </p:txBody>
      </p:sp>
      <p:sp>
        <p:nvSpPr>
          <p:cNvPr id="5" name="TextBox 4"/>
          <p:cNvSpPr txBox="1"/>
          <p:nvPr/>
        </p:nvSpPr>
        <p:spPr>
          <a:xfrm>
            <a:off x="685800" y="987552"/>
            <a:ext cx="10835640" cy="868680"/>
          </a:xfrm>
          <a:prstGeom prst="rect">
            <a:avLst/>
          </a:prstGeom>
          <a:noFill/>
        </p:spPr>
        <p:txBody>
          <a:bodyPr wrap="square" lIns="0" rIns="0" tIns="18288" bIns="18288">
            <a:spAutoFit/>
          </a:bodyPr>
          <a:lstStyle/>
          <a:p>
            <a:pPr>
              <a:spcAft>
                <a:spcPts val="900"/>
              </a:spcAft>
              <a:defRPr sz="3200" b="1">
                <a:solidFill>
                  <a:srgbClr val="17243A"/>
                </a:solidFill>
                <a:latin typeface="Arial"/>
              </a:defRPr>
            </a:pPr>
            <a:r>
              <a:t>Three tables keep each reward traceable.</a:t>
            </a:r>
          </a:p>
        </p:txBody>
      </p:sp>
      <p:sp>
        <p:nvSpPr>
          <p:cNvPr id="6" name="TextBox 5"/>
          <p:cNvSpPr txBox="1"/>
          <p:nvPr/>
        </p:nvSpPr>
        <p:spPr>
          <a:xfrm>
            <a:off x="713232" y="1856231"/>
            <a:ext cx="10698480" cy="502920"/>
          </a:xfrm>
          <a:prstGeom prst="rect">
            <a:avLst/>
          </a:prstGeom>
          <a:noFill/>
        </p:spPr>
        <p:txBody>
          <a:bodyPr wrap="square" lIns="0" rIns="0" tIns="18288" bIns="18288">
            <a:spAutoFit/>
          </a:bodyPr>
          <a:lstStyle/>
          <a:p>
            <a:pPr>
              <a:spcAft>
                <a:spcPts val="900"/>
              </a:spcAft>
              <a:defRPr sz="1600" b="0">
                <a:solidFill>
                  <a:srgbClr val="5E6D82"/>
                </a:solidFill>
                <a:latin typeface="Arial"/>
              </a:defRPr>
            </a:pPr>
            <a:r>
              <a:t>Identity → purchase evidence → issued reward</a:t>
            </a:r>
          </a:p>
        </p:txBody>
      </p:sp>
      <p:cxnSp>
        <p:nvCxnSpPr>
          <p:cNvPr id="7" name="Connector 6"/>
          <p:cNvCxnSpPr/>
          <p:nvPr/>
        </p:nvCxnSpPr>
        <p:spPr>
          <a:xfrm>
            <a:off x="713232" y="6318504"/>
            <a:ext cx="10762488" cy="0"/>
          </a:xfrm>
          <a:prstGeom prst="line">
            <a:avLst/>
          </a:prstGeom>
          <a:ln w="19050">
            <a:solidFill>
              <a:srgbClr val="D5DDEA"/>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13232" y="6437376"/>
            <a:ext cx="8229600" cy="210312"/>
          </a:xfrm>
          <a:prstGeom prst="rect">
            <a:avLst/>
          </a:prstGeom>
          <a:noFill/>
        </p:spPr>
        <p:txBody>
          <a:bodyPr wrap="square" lIns="0" rIns="0" tIns="18288" bIns="18288">
            <a:spAutoFit/>
          </a:bodyPr>
          <a:lstStyle/>
          <a:p>
            <a:pPr>
              <a:spcAft>
                <a:spcPts val="900"/>
              </a:spcAft>
              <a:defRPr sz="900" b="0">
                <a:solidFill>
                  <a:srgbClr val="5E6D82"/>
                </a:solidFill>
                <a:latin typeface="Arial"/>
              </a:defRPr>
            </a:pPr>
            <a:r>
              <a:t>AMIN H.   /   SECOND-ROUND TECHNICAL INTERVIEW</a:t>
            </a:r>
          </a:p>
        </p:txBody>
      </p:sp>
      <p:sp>
        <p:nvSpPr>
          <p:cNvPr id="9" name="TextBox 8"/>
          <p:cNvSpPr txBox="1"/>
          <p:nvPr/>
        </p:nvSpPr>
        <p:spPr>
          <a:xfrm>
            <a:off x="10835640" y="6419088"/>
            <a:ext cx="731520" cy="237744"/>
          </a:xfrm>
          <a:prstGeom prst="rect">
            <a:avLst/>
          </a:prstGeom>
          <a:noFill/>
        </p:spPr>
        <p:txBody>
          <a:bodyPr wrap="square" lIns="0" rIns="0" tIns="18288" bIns="18288">
            <a:spAutoFit/>
          </a:bodyPr>
          <a:lstStyle/>
          <a:p>
            <a:pPr>
              <a:spcAft>
                <a:spcPts val="900"/>
              </a:spcAft>
              <a:defRPr sz="1000" b="0">
                <a:solidFill>
                  <a:srgbClr val="5E6D82"/>
                </a:solidFill>
                <a:latin typeface="Arial"/>
              </a:defRPr>
            </a:pPr>
            <a:r>
              <a:t>04 / 12</a:t>
            </a:r>
          </a:p>
        </p:txBody>
      </p:sp>
      <p:sp>
        <p:nvSpPr>
          <p:cNvPr id="10" name="Rectangle 9"/>
          <p:cNvSpPr/>
          <p:nvPr/>
        </p:nvSpPr>
        <p:spPr>
          <a:xfrm>
            <a:off x="731520" y="2834640"/>
            <a:ext cx="32004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834640"/>
            <a:ext cx="3200400" cy="50292"/>
          </a:xfrm>
          <a:prstGeom prst="rect">
            <a:avLst/>
          </a:prstGeom>
          <a:solidFill>
            <a:srgbClr val="225C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3054096"/>
            <a:ext cx="2834640" cy="365760"/>
          </a:xfrm>
          <a:prstGeom prst="rect">
            <a:avLst/>
          </a:prstGeom>
          <a:noFill/>
        </p:spPr>
        <p:txBody>
          <a:bodyPr wrap="square" lIns="0" rIns="0" tIns="18288" bIns="18288">
            <a:spAutoFit/>
          </a:bodyPr>
          <a:lstStyle/>
          <a:p>
            <a:pPr>
              <a:spcAft>
                <a:spcPts val="900"/>
              </a:spcAft>
              <a:defRPr sz="2000" b="1">
                <a:solidFill>
                  <a:srgbClr val="225CDB"/>
                </a:solidFill>
                <a:latin typeface="Arial"/>
              </a:defRPr>
            </a:pPr>
            <a:r>
              <a:t>USERS</a:t>
            </a:r>
          </a:p>
        </p:txBody>
      </p:sp>
      <p:sp>
        <p:nvSpPr>
          <p:cNvPr id="13" name="TextBox 12"/>
          <p:cNvSpPr txBox="1"/>
          <p:nvPr/>
        </p:nvSpPr>
        <p:spPr>
          <a:xfrm>
            <a:off x="896112" y="3611880"/>
            <a:ext cx="2834640" cy="640080"/>
          </a:xfrm>
          <a:prstGeom prst="rect">
            <a:avLst/>
          </a:prstGeom>
          <a:noFill/>
        </p:spPr>
        <p:txBody>
          <a:bodyPr wrap="square" lIns="0" rIns="0" tIns="18288" bIns="18288">
            <a:spAutoFit/>
          </a:bodyPr>
          <a:lstStyle/>
          <a:p>
            <a:pPr>
              <a:spcAft>
                <a:spcPts val="900"/>
              </a:spcAft>
              <a:defRPr sz="1500" b="0">
                <a:solidFill>
                  <a:srgbClr val="5E6D82"/>
                </a:solidFill>
                <a:latin typeface="Arial"/>
              </a:defRPr>
            </a:pPr>
            <a:r>
              <a:t>id · email / phone</a:t>
            </a:r>
          </a:p>
          <a:p>
            <a:pPr>
              <a:spcAft>
                <a:spcPts val="900"/>
              </a:spcAft>
              <a:defRPr sz="1500" b="0">
                <a:solidFill>
                  <a:srgbClr val="5E6D82"/>
                </a:solidFill>
                <a:latin typeface="Arial"/>
              </a:defRPr>
            </a:pPr>
            <a:r>
              <a:t>password_hash · role</a:t>
            </a:r>
          </a:p>
        </p:txBody>
      </p:sp>
      <p:sp>
        <p:nvSpPr>
          <p:cNvPr id="14" name="Rectangle 13"/>
          <p:cNvSpPr/>
          <p:nvPr/>
        </p:nvSpPr>
        <p:spPr>
          <a:xfrm>
            <a:off x="4480560" y="2834640"/>
            <a:ext cx="32004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0560" y="2834640"/>
            <a:ext cx="3200400" cy="50292"/>
          </a:xfrm>
          <a:prstGeom prst="rect">
            <a:avLst/>
          </a:prstGeom>
          <a:solidFill>
            <a:srgbClr val="225C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5152" y="3054096"/>
            <a:ext cx="2834640" cy="365760"/>
          </a:xfrm>
          <a:prstGeom prst="rect">
            <a:avLst/>
          </a:prstGeom>
          <a:noFill/>
        </p:spPr>
        <p:txBody>
          <a:bodyPr wrap="square" lIns="0" rIns="0" tIns="18288" bIns="18288">
            <a:spAutoFit/>
          </a:bodyPr>
          <a:lstStyle/>
          <a:p>
            <a:pPr>
              <a:spcAft>
                <a:spcPts val="900"/>
              </a:spcAft>
              <a:defRPr sz="2000" b="1">
                <a:solidFill>
                  <a:srgbClr val="225CDB"/>
                </a:solidFill>
                <a:latin typeface="Arial"/>
              </a:defRPr>
            </a:pPr>
            <a:r>
              <a:t>RECEIPTS</a:t>
            </a:r>
          </a:p>
        </p:txBody>
      </p:sp>
      <p:sp>
        <p:nvSpPr>
          <p:cNvPr id="17" name="TextBox 16"/>
          <p:cNvSpPr txBox="1"/>
          <p:nvPr/>
        </p:nvSpPr>
        <p:spPr>
          <a:xfrm>
            <a:off x="4645152" y="3611880"/>
            <a:ext cx="2834640" cy="640080"/>
          </a:xfrm>
          <a:prstGeom prst="rect">
            <a:avLst/>
          </a:prstGeom>
          <a:noFill/>
        </p:spPr>
        <p:txBody>
          <a:bodyPr wrap="square" lIns="0" rIns="0" tIns="18288" bIns="18288">
            <a:spAutoFit/>
          </a:bodyPr>
          <a:lstStyle/>
          <a:p>
            <a:pPr>
              <a:spcAft>
                <a:spcPts val="900"/>
              </a:spcAft>
              <a:defRPr sz="1500" b="0">
                <a:solidFill>
                  <a:srgbClr val="5E6D82"/>
                </a:solidFill>
                <a:latin typeface="Arial"/>
              </a:defRPr>
            </a:pPr>
            <a:r>
              <a:t>id · user_id · order_id</a:t>
            </a:r>
          </a:p>
          <a:p>
            <a:pPr>
              <a:spcAft>
                <a:spcPts val="900"/>
              </a:spcAft>
              <a:defRPr sz="1500" b="0">
                <a:solidFill>
                  <a:srgbClr val="5E6D82"/>
                </a:solidFill>
                <a:latin typeface="Arial"/>
              </a:defRPr>
            </a:pPr>
            <a:r>
              <a:t>amount · status · file metadata</a:t>
            </a:r>
          </a:p>
        </p:txBody>
      </p:sp>
      <p:sp>
        <p:nvSpPr>
          <p:cNvPr id="18" name="Rectangle 17"/>
          <p:cNvSpPr/>
          <p:nvPr/>
        </p:nvSpPr>
        <p:spPr>
          <a:xfrm>
            <a:off x="8229600" y="2834640"/>
            <a:ext cx="32004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2834640"/>
            <a:ext cx="3200400" cy="50292"/>
          </a:xfrm>
          <a:prstGeom prst="rect">
            <a:avLst/>
          </a:prstGeom>
          <a:solidFill>
            <a:srgbClr val="225C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94192" y="3054096"/>
            <a:ext cx="2834640" cy="365760"/>
          </a:xfrm>
          <a:prstGeom prst="rect">
            <a:avLst/>
          </a:prstGeom>
          <a:noFill/>
        </p:spPr>
        <p:txBody>
          <a:bodyPr wrap="square" lIns="0" rIns="0" tIns="18288" bIns="18288">
            <a:spAutoFit/>
          </a:bodyPr>
          <a:lstStyle/>
          <a:p>
            <a:pPr>
              <a:spcAft>
                <a:spcPts val="900"/>
              </a:spcAft>
              <a:defRPr sz="2000" b="1">
                <a:solidFill>
                  <a:srgbClr val="225CDB"/>
                </a:solidFill>
                <a:latin typeface="Arial"/>
              </a:defRPr>
            </a:pPr>
            <a:r>
              <a:t>VOUCHERS</a:t>
            </a:r>
          </a:p>
        </p:txBody>
      </p:sp>
      <p:sp>
        <p:nvSpPr>
          <p:cNvPr id="21" name="TextBox 20"/>
          <p:cNvSpPr txBox="1"/>
          <p:nvPr/>
        </p:nvSpPr>
        <p:spPr>
          <a:xfrm>
            <a:off x="8394192" y="3611880"/>
            <a:ext cx="2834640" cy="640080"/>
          </a:xfrm>
          <a:prstGeom prst="rect">
            <a:avLst/>
          </a:prstGeom>
          <a:noFill/>
        </p:spPr>
        <p:txBody>
          <a:bodyPr wrap="square" lIns="0" rIns="0" tIns="18288" bIns="18288">
            <a:spAutoFit/>
          </a:bodyPr>
          <a:lstStyle/>
          <a:p>
            <a:pPr>
              <a:spcAft>
                <a:spcPts val="900"/>
              </a:spcAft>
              <a:defRPr sz="1500" b="0">
                <a:solidFill>
                  <a:srgbClr val="5E6D82"/>
                </a:solidFill>
                <a:latin typeface="Arial"/>
              </a:defRPr>
            </a:pPr>
            <a:r>
              <a:t>id · user_id · receipt_id</a:t>
            </a:r>
          </a:p>
          <a:p>
            <a:pPr>
              <a:spcAft>
                <a:spcPts val="900"/>
              </a:spcAft>
              <a:defRPr sz="1500" b="0">
                <a:solidFill>
                  <a:srgbClr val="5E6D82"/>
                </a:solidFill>
                <a:latin typeface="Arial"/>
              </a:defRPr>
            </a:pPr>
            <a:r>
              <a:t>code · issued_at</a:t>
            </a:r>
          </a:p>
        </p:txBody>
      </p:sp>
      <p:sp>
        <p:nvSpPr>
          <p:cNvPr id="22" name="TextBox 21"/>
          <p:cNvSpPr txBox="1"/>
          <p:nvPr/>
        </p:nvSpPr>
        <p:spPr>
          <a:xfrm>
            <a:off x="3410712" y="2441448"/>
            <a:ext cx="1463040" cy="365760"/>
          </a:xfrm>
          <a:prstGeom prst="rect">
            <a:avLst/>
          </a:prstGeom>
          <a:noFill/>
        </p:spPr>
        <p:txBody>
          <a:bodyPr wrap="square" lIns="0" rIns="0" tIns="18288" bIns="18288">
            <a:spAutoFit/>
          </a:bodyPr>
          <a:lstStyle/>
          <a:p>
            <a:pPr>
              <a:spcAft>
                <a:spcPts val="900"/>
              </a:spcAft>
              <a:defRPr sz="1400" b="0">
                <a:solidFill>
                  <a:srgbClr val="5E6D82"/>
                </a:solidFill>
                <a:latin typeface="Arial"/>
              </a:defRPr>
            </a:pPr>
            <a:r>
              <a:t>1 → many</a:t>
            </a:r>
          </a:p>
        </p:txBody>
      </p:sp>
      <p:sp>
        <p:nvSpPr>
          <p:cNvPr id="23" name="TextBox 22"/>
          <p:cNvSpPr txBox="1"/>
          <p:nvPr/>
        </p:nvSpPr>
        <p:spPr>
          <a:xfrm>
            <a:off x="7232904" y="2441448"/>
            <a:ext cx="1463040" cy="365760"/>
          </a:xfrm>
          <a:prstGeom prst="rect">
            <a:avLst/>
          </a:prstGeom>
          <a:noFill/>
        </p:spPr>
        <p:txBody>
          <a:bodyPr wrap="square" lIns="0" rIns="0" tIns="18288" bIns="18288">
            <a:spAutoFit/>
          </a:bodyPr>
          <a:lstStyle/>
          <a:p>
            <a:pPr>
              <a:spcAft>
                <a:spcPts val="900"/>
              </a:spcAft>
              <a:defRPr sz="1400" b="0">
                <a:solidFill>
                  <a:srgbClr val="5E6D82"/>
                </a:solidFill>
                <a:latin typeface="Arial"/>
              </a:defRPr>
            </a:pPr>
            <a:r>
              <a:t>1 → 0..1</a:t>
            </a:r>
          </a:p>
        </p:txBody>
      </p:sp>
      <p:cxnSp>
        <p:nvCxnSpPr>
          <p:cNvPr id="24" name="Connector 23"/>
          <p:cNvCxnSpPr/>
          <p:nvPr/>
        </p:nvCxnSpPr>
        <p:spPr>
          <a:xfrm>
            <a:off x="3931920" y="3474720"/>
            <a:ext cx="548640" cy="0"/>
          </a:xfrm>
          <a:prstGeom prst="line">
            <a:avLst/>
          </a:prstGeom>
          <a:ln w="19050">
            <a:solidFill>
              <a:srgbClr val="225CD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680960" y="3474720"/>
            <a:ext cx="548640" cy="0"/>
          </a:xfrm>
          <a:prstGeom prst="line">
            <a:avLst/>
          </a:prstGeom>
          <a:ln w="19050">
            <a:solidFill>
              <a:srgbClr val="225CDB"/>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31520" y="4892040"/>
            <a:ext cx="5029200" cy="411480"/>
          </a:xfrm>
          <a:prstGeom prst="rect">
            <a:avLst/>
          </a:prstGeom>
          <a:noFill/>
        </p:spPr>
        <p:txBody>
          <a:bodyPr wrap="square" lIns="0" rIns="0" tIns="18288" bIns="18288">
            <a:spAutoFit/>
          </a:bodyPr>
          <a:lstStyle/>
          <a:p>
            <a:pPr>
              <a:spcAft>
                <a:spcPts val="900"/>
              </a:spcAft>
              <a:defRPr sz="2100" b="1">
                <a:solidFill>
                  <a:srgbClr val="17243A"/>
                </a:solidFill>
                <a:latin typeface="Arial"/>
              </a:defRPr>
            </a:pPr>
            <a:r>
              <a:t>Unique order ID per member</a:t>
            </a:r>
          </a:p>
        </p:txBody>
      </p:sp>
      <p:sp>
        <p:nvSpPr>
          <p:cNvPr id="27" name="TextBox 26"/>
          <p:cNvSpPr txBox="1"/>
          <p:nvPr/>
        </p:nvSpPr>
        <p:spPr>
          <a:xfrm>
            <a:off x="731520" y="5468112"/>
            <a:ext cx="5029200" cy="365760"/>
          </a:xfrm>
          <a:prstGeom prst="rect">
            <a:avLst/>
          </a:prstGeom>
          <a:noFill/>
        </p:spPr>
        <p:txBody>
          <a:bodyPr wrap="square" lIns="0" rIns="0" tIns="18288" bIns="18288">
            <a:spAutoFit/>
          </a:bodyPr>
          <a:lstStyle/>
          <a:p>
            <a:pPr>
              <a:spcAft>
                <a:spcPts val="900"/>
              </a:spcAft>
              <a:defRPr sz="1600" b="0">
                <a:solidFill>
                  <a:srgbClr val="5E6D82"/>
                </a:solidFill>
                <a:latin typeface="Courier New"/>
              </a:defRPr>
            </a:pPr>
            <a:r>
              <a:t>UNIQUE(user_id, order_id)</a:t>
            </a:r>
          </a:p>
        </p:txBody>
      </p:sp>
      <p:sp>
        <p:nvSpPr>
          <p:cNvPr id="28" name="TextBox 27"/>
          <p:cNvSpPr txBox="1"/>
          <p:nvPr/>
        </p:nvSpPr>
        <p:spPr>
          <a:xfrm>
            <a:off x="6400800" y="4892040"/>
            <a:ext cx="5120640" cy="411480"/>
          </a:xfrm>
          <a:prstGeom prst="rect">
            <a:avLst/>
          </a:prstGeom>
          <a:noFill/>
        </p:spPr>
        <p:txBody>
          <a:bodyPr wrap="square" lIns="0" rIns="0" tIns="18288" bIns="18288">
            <a:spAutoFit/>
          </a:bodyPr>
          <a:lstStyle/>
          <a:p>
            <a:pPr>
              <a:spcAft>
                <a:spcPts val="900"/>
              </a:spcAft>
              <a:defRPr sz="2100" b="1">
                <a:solidFill>
                  <a:srgbClr val="17243A"/>
                </a:solidFill>
                <a:latin typeface="Arial"/>
              </a:defRPr>
            </a:pPr>
            <a:r>
              <a:t>At most one voucher per receipt</a:t>
            </a:r>
          </a:p>
        </p:txBody>
      </p:sp>
      <p:sp>
        <p:nvSpPr>
          <p:cNvPr id="29" name="TextBox 28"/>
          <p:cNvSpPr txBox="1"/>
          <p:nvPr/>
        </p:nvSpPr>
        <p:spPr>
          <a:xfrm>
            <a:off x="6400800" y="5468112"/>
            <a:ext cx="5120640" cy="365760"/>
          </a:xfrm>
          <a:prstGeom prst="rect">
            <a:avLst/>
          </a:prstGeom>
          <a:noFill/>
        </p:spPr>
        <p:txBody>
          <a:bodyPr wrap="square" lIns="0" rIns="0" tIns="18288" bIns="18288">
            <a:spAutoFit/>
          </a:bodyPr>
          <a:lstStyle/>
          <a:p>
            <a:pPr>
              <a:spcAft>
                <a:spcPts val="900"/>
              </a:spcAft>
              <a:defRPr sz="1600" b="0">
                <a:solidFill>
                  <a:srgbClr val="5E6D82"/>
                </a:solidFill>
                <a:latin typeface="Courier New"/>
              </a:defRPr>
            </a:pPr>
            <a:r>
              <a:t>UNIQUE(vouchers.receipt_id)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02920" y="438912"/>
            <a:ext cx="73152" cy="228600"/>
          </a:xfrm>
          <a:prstGeom prst="rect">
            <a:avLst/>
          </a:prstGeom>
          <a:solidFill>
            <a:srgbClr val="225C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38912"/>
            <a:ext cx="5486400" cy="228600"/>
          </a:xfrm>
          <a:prstGeom prst="rect">
            <a:avLst/>
          </a:prstGeom>
          <a:noFill/>
        </p:spPr>
        <p:txBody>
          <a:bodyPr wrap="square" lIns="0" rIns="0" tIns="18288" bIns="18288">
            <a:spAutoFit/>
          </a:bodyPr>
          <a:lstStyle/>
          <a:p>
            <a:pPr>
              <a:spcAft>
                <a:spcPts val="900"/>
              </a:spcAft>
              <a:defRPr sz="1100" b="1">
                <a:solidFill>
                  <a:srgbClr val="225CDB"/>
                </a:solidFill>
                <a:latin typeface="Arial"/>
              </a:defRPr>
            </a:pPr>
            <a:r>
              <a:t>PROOF / PERK   ·   ANTLYSIS</a:t>
            </a:r>
          </a:p>
        </p:txBody>
      </p:sp>
      <p:sp>
        <p:nvSpPr>
          <p:cNvPr id="4" name="TextBox 3"/>
          <p:cNvSpPr txBox="1"/>
          <p:nvPr/>
        </p:nvSpPr>
        <p:spPr>
          <a:xfrm>
            <a:off x="8366760" y="438912"/>
            <a:ext cx="3200400" cy="228600"/>
          </a:xfrm>
          <a:prstGeom prst="rect">
            <a:avLst/>
          </a:prstGeom>
          <a:noFill/>
        </p:spPr>
        <p:txBody>
          <a:bodyPr wrap="square" lIns="0" rIns="0" tIns="18288" bIns="18288">
            <a:spAutoFit/>
          </a:bodyPr>
          <a:lstStyle/>
          <a:p>
            <a:pPr>
              <a:spcAft>
                <a:spcPts val="900"/>
              </a:spcAft>
              <a:defRPr sz="1000" b="0">
                <a:solidFill>
                  <a:srgbClr val="5E6D82"/>
                </a:solidFill>
                <a:latin typeface="Arial"/>
              </a:defRPr>
            </a:pPr>
            <a:r>
              <a:t>05 · BUSINESS RULE</a:t>
            </a:r>
          </a:p>
        </p:txBody>
      </p:sp>
      <p:sp>
        <p:nvSpPr>
          <p:cNvPr id="5" name="TextBox 4"/>
          <p:cNvSpPr txBox="1"/>
          <p:nvPr/>
        </p:nvSpPr>
        <p:spPr>
          <a:xfrm>
            <a:off x="685800" y="987552"/>
            <a:ext cx="10835640" cy="868680"/>
          </a:xfrm>
          <a:prstGeom prst="rect">
            <a:avLst/>
          </a:prstGeom>
          <a:noFill/>
        </p:spPr>
        <p:txBody>
          <a:bodyPr wrap="square" lIns="0" rIns="0" tIns="18288" bIns="18288">
            <a:spAutoFit/>
          </a:bodyPr>
          <a:lstStyle/>
          <a:p>
            <a:pPr>
              <a:spcAft>
                <a:spcPts val="900"/>
              </a:spcAft>
              <a:defRPr sz="3200" b="1">
                <a:solidFill>
                  <a:srgbClr val="17243A"/>
                </a:solidFill>
                <a:latin typeface="Arial"/>
              </a:defRPr>
            </a:pPr>
            <a:r>
              <a:t>Approval and voucher creation commit together.</a:t>
            </a:r>
          </a:p>
        </p:txBody>
      </p:sp>
      <p:sp>
        <p:nvSpPr>
          <p:cNvPr id="6" name="TextBox 5"/>
          <p:cNvSpPr txBox="1"/>
          <p:nvPr/>
        </p:nvSpPr>
        <p:spPr>
          <a:xfrm>
            <a:off x="713232" y="1856231"/>
            <a:ext cx="10698480" cy="502920"/>
          </a:xfrm>
          <a:prstGeom prst="rect">
            <a:avLst/>
          </a:prstGeom>
          <a:noFill/>
        </p:spPr>
        <p:txBody>
          <a:bodyPr wrap="square" lIns="0" rIns="0" tIns="18288" bIns="18288">
            <a:spAutoFit/>
          </a:bodyPr>
          <a:lstStyle/>
          <a:p>
            <a:pPr>
              <a:spcAft>
                <a:spcPts val="900"/>
              </a:spcAft>
              <a:defRPr sz="1600" b="0">
                <a:solidFill>
                  <a:srgbClr val="5E6D82"/>
                </a:solidFill>
                <a:latin typeface="Arial"/>
              </a:defRPr>
            </a:pPr>
            <a:r>
              <a:t>The critical path is a database transaction, protected by a row lock.</a:t>
            </a:r>
          </a:p>
        </p:txBody>
      </p:sp>
      <p:cxnSp>
        <p:nvCxnSpPr>
          <p:cNvPr id="7" name="Connector 6"/>
          <p:cNvCxnSpPr/>
          <p:nvPr/>
        </p:nvCxnSpPr>
        <p:spPr>
          <a:xfrm>
            <a:off x="713232" y="6318504"/>
            <a:ext cx="10762488" cy="0"/>
          </a:xfrm>
          <a:prstGeom prst="line">
            <a:avLst/>
          </a:prstGeom>
          <a:ln w="19050">
            <a:solidFill>
              <a:srgbClr val="D5DDEA"/>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13232" y="6437376"/>
            <a:ext cx="8229600" cy="210312"/>
          </a:xfrm>
          <a:prstGeom prst="rect">
            <a:avLst/>
          </a:prstGeom>
          <a:noFill/>
        </p:spPr>
        <p:txBody>
          <a:bodyPr wrap="square" lIns="0" rIns="0" tIns="18288" bIns="18288">
            <a:spAutoFit/>
          </a:bodyPr>
          <a:lstStyle/>
          <a:p>
            <a:pPr>
              <a:spcAft>
                <a:spcPts val="900"/>
              </a:spcAft>
              <a:defRPr sz="900" b="0">
                <a:solidFill>
                  <a:srgbClr val="5E6D82"/>
                </a:solidFill>
                <a:latin typeface="Arial"/>
              </a:defRPr>
            </a:pPr>
            <a:r>
              <a:t>AMIN H.   /   SECOND-ROUND TECHNICAL INTERVIEW</a:t>
            </a:r>
          </a:p>
        </p:txBody>
      </p:sp>
      <p:sp>
        <p:nvSpPr>
          <p:cNvPr id="9" name="TextBox 8"/>
          <p:cNvSpPr txBox="1"/>
          <p:nvPr/>
        </p:nvSpPr>
        <p:spPr>
          <a:xfrm>
            <a:off x="10835640" y="6419088"/>
            <a:ext cx="731520" cy="237744"/>
          </a:xfrm>
          <a:prstGeom prst="rect">
            <a:avLst/>
          </a:prstGeom>
          <a:noFill/>
        </p:spPr>
        <p:txBody>
          <a:bodyPr wrap="square" lIns="0" rIns="0" tIns="18288" bIns="18288">
            <a:spAutoFit/>
          </a:bodyPr>
          <a:lstStyle/>
          <a:p>
            <a:pPr>
              <a:spcAft>
                <a:spcPts val="900"/>
              </a:spcAft>
              <a:defRPr sz="1000" b="0">
                <a:solidFill>
                  <a:srgbClr val="5E6D82"/>
                </a:solidFill>
                <a:latin typeface="Arial"/>
              </a:defRPr>
            </a:pPr>
            <a:r>
              <a:t>05 / 12</a:t>
            </a:r>
          </a:p>
        </p:txBody>
      </p:sp>
      <p:sp>
        <p:nvSpPr>
          <p:cNvPr id="10" name="TextBox 9"/>
          <p:cNvSpPr txBox="1"/>
          <p:nvPr/>
        </p:nvSpPr>
        <p:spPr>
          <a:xfrm>
            <a:off x="731520" y="2743200"/>
            <a:ext cx="1920240" cy="502920"/>
          </a:xfrm>
          <a:prstGeom prst="rect">
            <a:avLst/>
          </a:prstGeom>
          <a:noFill/>
        </p:spPr>
        <p:txBody>
          <a:bodyPr wrap="square" lIns="0" rIns="0" tIns="18288" bIns="18288">
            <a:spAutoFit/>
          </a:bodyPr>
          <a:lstStyle/>
          <a:p>
            <a:pPr>
              <a:spcAft>
                <a:spcPts val="900"/>
              </a:spcAft>
              <a:defRPr sz="3100" b="1">
                <a:solidFill>
                  <a:srgbClr val="225CDB"/>
                </a:solidFill>
                <a:latin typeface="Arial"/>
              </a:defRPr>
            </a:pPr>
            <a:r>
              <a:t>01</a:t>
            </a:r>
          </a:p>
        </p:txBody>
      </p:sp>
      <p:cxnSp>
        <p:nvCxnSpPr>
          <p:cNvPr id="11" name="Connector 10"/>
          <p:cNvCxnSpPr/>
          <p:nvPr/>
        </p:nvCxnSpPr>
        <p:spPr>
          <a:xfrm>
            <a:off x="731520" y="3401568"/>
            <a:ext cx="1856232" cy="0"/>
          </a:xfrm>
          <a:prstGeom prst="line">
            <a:avLst/>
          </a:prstGeom>
          <a:ln w="19050">
            <a:solidFill>
              <a:srgbClr val="D5DDEA"/>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3657600"/>
            <a:ext cx="1920240" cy="365760"/>
          </a:xfrm>
          <a:prstGeom prst="rect">
            <a:avLst/>
          </a:prstGeom>
          <a:noFill/>
        </p:spPr>
        <p:txBody>
          <a:bodyPr wrap="square" lIns="0" rIns="0" tIns="18288" bIns="18288">
            <a:spAutoFit/>
          </a:bodyPr>
          <a:lstStyle/>
          <a:p>
            <a:pPr>
              <a:spcAft>
                <a:spcPts val="900"/>
              </a:spcAft>
              <a:defRPr sz="1900" b="1">
                <a:solidFill>
                  <a:srgbClr val="17243A"/>
                </a:solidFill>
                <a:latin typeface="Arial"/>
              </a:defRPr>
            </a:pPr>
            <a:r>
              <a:t>BEGIN</a:t>
            </a:r>
          </a:p>
        </p:txBody>
      </p:sp>
      <p:sp>
        <p:nvSpPr>
          <p:cNvPr id="13" name="TextBox 12"/>
          <p:cNvSpPr txBox="1"/>
          <p:nvPr/>
        </p:nvSpPr>
        <p:spPr>
          <a:xfrm>
            <a:off x="731520" y="4169663"/>
            <a:ext cx="1938528" cy="822960"/>
          </a:xfrm>
          <a:prstGeom prst="rect">
            <a:avLst/>
          </a:prstGeom>
          <a:noFill/>
        </p:spPr>
        <p:txBody>
          <a:bodyPr wrap="square" lIns="0" rIns="0" tIns="18288" bIns="18288">
            <a:spAutoFit/>
          </a:bodyPr>
          <a:lstStyle/>
          <a:p>
            <a:pPr>
              <a:spcAft>
                <a:spcPts val="900"/>
              </a:spcAft>
              <a:defRPr sz="1500" b="0">
                <a:solidFill>
                  <a:srgbClr val="5E6D82"/>
                </a:solidFill>
                <a:latin typeface="Arial"/>
              </a:defRPr>
            </a:pPr>
            <a:r>
              <a:t>Start transaction</a:t>
            </a:r>
          </a:p>
        </p:txBody>
      </p:sp>
      <p:sp>
        <p:nvSpPr>
          <p:cNvPr id="14" name="TextBox 13"/>
          <p:cNvSpPr txBox="1"/>
          <p:nvPr/>
        </p:nvSpPr>
        <p:spPr>
          <a:xfrm>
            <a:off x="2898648" y="2743200"/>
            <a:ext cx="1920240" cy="502920"/>
          </a:xfrm>
          <a:prstGeom prst="rect">
            <a:avLst/>
          </a:prstGeom>
          <a:noFill/>
        </p:spPr>
        <p:txBody>
          <a:bodyPr wrap="square" lIns="0" rIns="0" tIns="18288" bIns="18288">
            <a:spAutoFit/>
          </a:bodyPr>
          <a:lstStyle/>
          <a:p>
            <a:pPr>
              <a:spcAft>
                <a:spcPts val="900"/>
              </a:spcAft>
              <a:defRPr sz="3100" b="1">
                <a:solidFill>
                  <a:srgbClr val="225CDB"/>
                </a:solidFill>
                <a:latin typeface="Arial"/>
              </a:defRPr>
            </a:pPr>
            <a:r>
              <a:t>02</a:t>
            </a:r>
          </a:p>
        </p:txBody>
      </p:sp>
      <p:cxnSp>
        <p:nvCxnSpPr>
          <p:cNvPr id="15" name="Connector 14"/>
          <p:cNvCxnSpPr/>
          <p:nvPr/>
        </p:nvCxnSpPr>
        <p:spPr>
          <a:xfrm>
            <a:off x="2898648" y="3401568"/>
            <a:ext cx="1856231" cy="0"/>
          </a:xfrm>
          <a:prstGeom prst="line">
            <a:avLst/>
          </a:prstGeom>
          <a:ln w="19050">
            <a:solidFill>
              <a:srgbClr val="D5DDE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898648" y="3657600"/>
            <a:ext cx="1920240" cy="365760"/>
          </a:xfrm>
          <a:prstGeom prst="rect">
            <a:avLst/>
          </a:prstGeom>
          <a:noFill/>
        </p:spPr>
        <p:txBody>
          <a:bodyPr wrap="square" lIns="0" rIns="0" tIns="18288" bIns="18288">
            <a:spAutoFit/>
          </a:bodyPr>
          <a:lstStyle/>
          <a:p>
            <a:pPr>
              <a:spcAft>
                <a:spcPts val="900"/>
              </a:spcAft>
              <a:defRPr sz="1900" b="1">
                <a:solidFill>
                  <a:srgbClr val="17243A"/>
                </a:solidFill>
                <a:latin typeface="Arial"/>
              </a:defRPr>
            </a:pPr>
            <a:r>
              <a:t>LOCK</a:t>
            </a:r>
          </a:p>
        </p:txBody>
      </p:sp>
      <p:sp>
        <p:nvSpPr>
          <p:cNvPr id="17" name="TextBox 16"/>
          <p:cNvSpPr txBox="1"/>
          <p:nvPr/>
        </p:nvSpPr>
        <p:spPr>
          <a:xfrm>
            <a:off x="2898648" y="4169663"/>
            <a:ext cx="1938528" cy="822960"/>
          </a:xfrm>
          <a:prstGeom prst="rect">
            <a:avLst/>
          </a:prstGeom>
          <a:noFill/>
        </p:spPr>
        <p:txBody>
          <a:bodyPr wrap="square" lIns="0" rIns="0" tIns="18288" bIns="18288">
            <a:spAutoFit/>
          </a:bodyPr>
          <a:lstStyle/>
          <a:p>
            <a:pPr>
              <a:spcAft>
                <a:spcPts val="900"/>
              </a:spcAft>
              <a:defRPr sz="1500" b="0">
                <a:solidFill>
                  <a:srgbClr val="5E6D82"/>
                </a:solidFill>
                <a:latin typeface="Arial"/>
              </a:defRPr>
            </a:pPr>
            <a:r>
              <a:t>SELECT … FOR UPDATE</a:t>
            </a:r>
          </a:p>
        </p:txBody>
      </p:sp>
      <p:sp>
        <p:nvSpPr>
          <p:cNvPr id="18" name="TextBox 17"/>
          <p:cNvSpPr txBox="1"/>
          <p:nvPr/>
        </p:nvSpPr>
        <p:spPr>
          <a:xfrm>
            <a:off x="5065776" y="2743200"/>
            <a:ext cx="1920240" cy="502920"/>
          </a:xfrm>
          <a:prstGeom prst="rect">
            <a:avLst/>
          </a:prstGeom>
          <a:noFill/>
        </p:spPr>
        <p:txBody>
          <a:bodyPr wrap="square" lIns="0" rIns="0" tIns="18288" bIns="18288">
            <a:spAutoFit/>
          </a:bodyPr>
          <a:lstStyle/>
          <a:p>
            <a:pPr>
              <a:spcAft>
                <a:spcPts val="900"/>
              </a:spcAft>
              <a:defRPr sz="3100" b="1">
                <a:solidFill>
                  <a:srgbClr val="225CDB"/>
                </a:solidFill>
                <a:latin typeface="Arial"/>
              </a:defRPr>
            </a:pPr>
            <a:r>
              <a:t>03</a:t>
            </a:r>
          </a:p>
        </p:txBody>
      </p:sp>
      <p:cxnSp>
        <p:nvCxnSpPr>
          <p:cNvPr id="19" name="Connector 18"/>
          <p:cNvCxnSpPr/>
          <p:nvPr/>
        </p:nvCxnSpPr>
        <p:spPr>
          <a:xfrm>
            <a:off x="5065776" y="3401568"/>
            <a:ext cx="1856232" cy="0"/>
          </a:xfrm>
          <a:prstGeom prst="line">
            <a:avLst/>
          </a:prstGeom>
          <a:ln w="19050">
            <a:solidFill>
              <a:srgbClr val="D5DDE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065776" y="3657600"/>
            <a:ext cx="1920240" cy="365760"/>
          </a:xfrm>
          <a:prstGeom prst="rect">
            <a:avLst/>
          </a:prstGeom>
          <a:noFill/>
        </p:spPr>
        <p:txBody>
          <a:bodyPr wrap="square" lIns="0" rIns="0" tIns="18288" bIns="18288">
            <a:spAutoFit/>
          </a:bodyPr>
          <a:lstStyle/>
          <a:p>
            <a:pPr>
              <a:spcAft>
                <a:spcPts val="900"/>
              </a:spcAft>
              <a:defRPr sz="1900" b="1">
                <a:solidFill>
                  <a:srgbClr val="17243A"/>
                </a:solidFill>
                <a:latin typeface="Arial"/>
              </a:defRPr>
            </a:pPr>
            <a:r>
              <a:t>CHECK</a:t>
            </a:r>
          </a:p>
        </p:txBody>
      </p:sp>
      <p:sp>
        <p:nvSpPr>
          <p:cNvPr id="21" name="TextBox 20"/>
          <p:cNvSpPr txBox="1"/>
          <p:nvPr/>
        </p:nvSpPr>
        <p:spPr>
          <a:xfrm>
            <a:off x="5065776" y="4169663"/>
            <a:ext cx="1938528" cy="822960"/>
          </a:xfrm>
          <a:prstGeom prst="rect">
            <a:avLst/>
          </a:prstGeom>
          <a:noFill/>
        </p:spPr>
        <p:txBody>
          <a:bodyPr wrap="square" lIns="0" rIns="0" tIns="18288" bIns="18288">
            <a:spAutoFit/>
          </a:bodyPr>
          <a:lstStyle/>
          <a:p>
            <a:pPr>
              <a:spcAft>
                <a:spcPts val="900"/>
              </a:spcAft>
              <a:defRPr sz="1500" b="0">
                <a:solidFill>
                  <a:srgbClr val="5E6D82"/>
                </a:solidFill>
                <a:latin typeface="Arial"/>
              </a:defRPr>
            </a:pPr>
            <a:r>
              <a:t>Receipt must be PENDING</a:t>
            </a:r>
          </a:p>
        </p:txBody>
      </p:sp>
      <p:sp>
        <p:nvSpPr>
          <p:cNvPr id="22" name="TextBox 21"/>
          <p:cNvSpPr txBox="1"/>
          <p:nvPr/>
        </p:nvSpPr>
        <p:spPr>
          <a:xfrm>
            <a:off x="7232904" y="2743200"/>
            <a:ext cx="1920240" cy="502920"/>
          </a:xfrm>
          <a:prstGeom prst="rect">
            <a:avLst/>
          </a:prstGeom>
          <a:noFill/>
        </p:spPr>
        <p:txBody>
          <a:bodyPr wrap="square" lIns="0" rIns="0" tIns="18288" bIns="18288">
            <a:spAutoFit/>
          </a:bodyPr>
          <a:lstStyle/>
          <a:p>
            <a:pPr>
              <a:spcAft>
                <a:spcPts val="900"/>
              </a:spcAft>
              <a:defRPr sz="3100" b="1">
                <a:solidFill>
                  <a:srgbClr val="225CDB"/>
                </a:solidFill>
                <a:latin typeface="Arial"/>
              </a:defRPr>
            </a:pPr>
            <a:r>
              <a:t>04</a:t>
            </a:r>
          </a:p>
        </p:txBody>
      </p:sp>
      <p:cxnSp>
        <p:nvCxnSpPr>
          <p:cNvPr id="23" name="Connector 22"/>
          <p:cNvCxnSpPr/>
          <p:nvPr/>
        </p:nvCxnSpPr>
        <p:spPr>
          <a:xfrm>
            <a:off x="7232904" y="3401568"/>
            <a:ext cx="1856232" cy="0"/>
          </a:xfrm>
          <a:prstGeom prst="line">
            <a:avLst/>
          </a:prstGeom>
          <a:ln w="19050">
            <a:solidFill>
              <a:srgbClr val="D5DDE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232904" y="3657600"/>
            <a:ext cx="1920240" cy="365760"/>
          </a:xfrm>
          <a:prstGeom prst="rect">
            <a:avLst/>
          </a:prstGeom>
          <a:noFill/>
        </p:spPr>
        <p:txBody>
          <a:bodyPr wrap="square" lIns="0" rIns="0" tIns="18288" bIns="18288">
            <a:spAutoFit/>
          </a:bodyPr>
          <a:lstStyle/>
          <a:p>
            <a:pPr>
              <a:spcAft>
                <a:spcPts val="900"/>
              </a:spcAft>
              <a:defRPr sz="1900" b="1">
                <a:solidFill>
                  <a:srgbClr val="17243A"/>
                </a:solidFill>
                <a:latin typeface="Arial"/>
              </a:defRPr>
            </a:pPr>
            <a:r>
              <a:t>WRITE</a:t>
            </a:r>
          </a:p>
        </p:txBody>
      </p:sp>
      <p:sp>
        <p:nvSpPr>
          <p:cNvPr id="25" name="TextBox 24"/>
          <p:cNvSpPr txBox="1"/>
          <p:nvPr/>
        </p:nvSpPr>
        <p:spPr>
          <a:xfrm>
            <a:off x="7232904" y="4169663"/>
            <a:ext cx="1938528" cy="822960"/>
          </a:xfrm>
          <a:prstGeom prst="rect">
            <a:avLst/>
          </a:prstGeom>
          <a:noFill/>
        </p:spPr>
        <p:txBody>
          <a:bodyPr wrap="square" lIns="0" rIns="0" tIns="18288" bIns="18288">
            <a:spAutoFit/>
          </a:bodyPr>
          <a:lstStyle/>
          <a:p>
            <a:pPr>
              <a:spcAft>
                <a:spcPts val="900"/>
              </a:spcAft>
              <a:defRPr sz="1500" b="0">
                <a:solidFill>
                  <a:srgbClr val="5E6D82"/>
                </a:solidFill>
                <a:latin typeface="Arial"/>
              </a:defRPr>
            </a:pPr>
            <a:r>
              <a:t>Approve + insert voucher</a:t>
            </a:r>
          </a:p>
        </p:txBody>
      </p:sp>
      <p:sp>
        <p:nvSpPr>
          <p:cNvPr id="26" name="TextBox 25"/>
          <p:cNvSpPr txBox="1"/>
          <p:nvPr/>
        </p:nvSpPr>
        <p:spPr>
          <a:xfrm>
            <a:off x="9400032" y="2743200"/>
            <a:ext cx="1920240" cy="502920"/>
          </a:xfrm>
          <a:prstGeom prst="rect">
            <a:avLst/>
          </a:prstGeom>
          <a:noFill/>
        </p:spPr>
        <p:txBody>
          <a:bodyPr wrap="square" lIns="0" rIns="0" tIns="18288" bIns="18288">
            <a:spAutoFit/>
          </a:bodyPr>
          <a:lstStyle/>
          <a:p>
            <a:pPr>
              <a:spcAft>
                <a:spcPts val="900"/>
              </a:spcAft>
              <a:defRPr sz="3100" b="1">
                <a:solidFill>
                  <a:srgbClr val="225CDB"/>
                </a:solidFill>
                <a:latin typeface="Arial"/>
              </a:defRPr>
            </a:pPr>
            <a:r>
              <a:t>05</a:t>
            </a:r>
          </a:p>
        </p:txBody>
      </p:sp>
      <p:cxnSp>
        <p:nvCxnSpPr>
          <p:cNvPr id="27" name="Connector 26"/>
          <p:cNvCxnSpPr/>
          <p:nvPr/>
        </p:nvCxnSpPr>
        <p:spPr>
          <a:xfrm>
            <a:off x="9400032" y="3401568"/>
            <a:ext cx="1856232" cy="0"/>
          </a:xfrm>
          <a:prstGeom prst="line">
            <a:avLst/>
          </a:prstGeom>
          <a:ln w="19050">
            <a:solidFill>
              <a:srgbClr val="D5DDEA"/>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400032" y="3657600"/>
            <a:ext cx="1920240" cy="365760"/>
          </a:xfrm>
          <a:prstGeom prst="rect">
            <a:avLst/>
          </a:prstGeom>
          <a:noFill/>
        </p:spPr>
        <p:txBody>
          <a:bodyPr wrap="square" lIns="0" rIns="0" tIns="18288" bIns="18288">
            <a:spAutoFit/>
          </a:bodyPr>
          <a:lstStyle/>
          <a:p>
            <a:pPr>
              <a:spcAft>
                <a:spcPts val="900"/>
              </a:spcAft>
              <a:defRPr sz="1900" b="1">
                <a:solidFill>
                  <a:srgbClr val="17243A"/>
                </a:solidFill>
                <a:latin typeface="Arial"/>
              </a:defRPr>
            </a:pPr>
            <a:r>
              <a:t>COMMIT</a:t>
            </a:r>
          </a:p>
        </p:txBody>
      </p:sp>
      <p:sp>
        <p:nvSpPr>
          <p:cNvPr id="29" name="TextBox 28"/>
          <p:cNvSpPr txBox="1"/>
          <p:nvPr/>
        </p:nvSpPr>
        <p:spPr>
          <a:xfrm>
            <a:off x="9400032" y="4169663"/>
            <a:ext cx="1938528" cy="822960"/>
          </a:xfrm>
          <a:prstGeom prst="rect">
            <a:avLst/>
          </a:prstGeom>
          <a:noFill/>
        </p:spPr>
        <p:txBody>
          <a:bodyPr wrap="square" lIns="0" rIns="0" tIns="18288" bIns="18288">
            <a:spAutoFit/>
          </a:bodyPr>
          <a:lstStyle/>
          <a:p>
            <a:pPr>
              <a:spcAft>
                <a:spcPts val="900"/>
              </a:spcAft>
              <a:defRPr sz="1500" b="0">
                <a:solidFill>
                  <a:srgbClr val="5E6D82"/>
                </a:solidFill>
                <a:latin typeface="Arial"/>
              </a:defRPr>
            </a:pPr>
            <a:r>
              <a:t>Persist both changes</a:t>
            </a:r>
          </a:p>
        </p:txBody>
      </p:sp>
      <p:sp>
        <p:nvSpPr>
          <p:cNvPr id="30" name="Rectangle 29"/>
          <p:cNvSpPr/>
          <p:nvPr/>
        </p:nvSpPr>
        <p:spPr>
          <a:xfrm>
            <a:off x="713232" y="5266944"/>
            <a:ext cx="10762488" cy="676656"/>
          </a:xfrm>
          <a:prstGeom prst="rect">
            <a:avLst/>
          </a:prstGeom>
          <a:solidFill>
            <a:srgbClr val="10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458968"/>
            <a:ext cx="10241280" cy="320040"/>
          </a:xfrm>
          <a:prstGeom prst="rect">
            <a:avLst/>
          </a:prstGeom>
          <a:noFill/>
        </p:spPr>
        <p:txBody>
          <a:bodyPr wrap="square" lIns="0" rIns="0" tIns="18288" bIns="18288">
            <a:spAutoFit/>
          </a:bodyPr>
          <a:lstStyle/>
          <a:p>
            <a:pPr>
              <a:spcAft>
                <a:spcPts val="900"/>
              </a:spcAft>
              <a:defRPr sz="1700" b="0">
                <a:solidFill>
                  <a:srgbClr val="FFFFFF"/>
                </a:solidFill>
                <a:latin typeface="Arial"/>
              </a:defRPr>
            </a:pPr>
            <a:r>
              <a:t>Any failure → ROLLBACK    |    Repeated decision → 409    |    Rejection → no insert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02920" y="438912"/>
            <a:ext cx="73152" cy="228600"/>
          </a:xfrm>
          <a:prstGeom prst="rect">
            <a:avLst/>
          </a:prstGeom>
          <a:solidFill>
            <a:srgbClr val="225C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38912"/>
            <a:ext cx="5486400" cy="228600"/>
          </a:xfrm>
          <a:prstGeom prst="rect">
            <a:avLst/>
          </a:prstGeom>
          <a:noFill/>
        </p:spPr>
        <p:txBody>
          <a:bodyPr wrap="square" lIns="0" rIns="0" tIns="18288" bIns="18288">
            <a:spAutoFit/>
          </a:bodyPr>
          <a:lstStyle/>
          <a:p>
            <a:pPr>
              <a:spcAft>
                <a:spcPts val="900"/>
              </a:spcAft>
              <a:defRPr sz="1100" b="1">
                <a:solidFill>
                  <a:srgbClr val="225CDB"/>
                </a:solidFill>
                <a:latin typeface="Arial"/>
              </a:defRPr>
            </a:pPr>
            <a:r>
              <a:t>PROOF / PERK   ·   ANTLYSIS</a:t>
            </a:r>
          </a:p>
        </p:txBody>
      </p:sp>
      <p:sp>
        <p:nvSpPr>
          <p:cNvPr id="4" name="TextBox 3"/>
          <p:cNvSpPr txBox="1"/>
          <p:nvPr/>
        </p:nvSpPr>
        <p:spPr>
          <a:xfrm>
            <a:off x="8366760" y="438912"/>
            <a:ext cx="3200400" cy="228600"/>
          </a:xfrm>
          <a:prstGeom prst="rect">
            <a:avLst/>
          </a:prstGeom>
          <a:noFill/>
        </p:spPr>
        <p:txBody>
          <a:bodyPr wrap="square" lIns="0" rIns="0" tIns="18288" bIns="18288">
            <a:spAutoFit/>
          </a:bodyPr>
          <a:lstStyle/>
          <a:p>
            <a:pPr>
              <a:spcAft>
                <a:spcPts val="900"/>
              </a:spcAft>
              <a:defRPr sz="1000" b="0">
                <a:solidFill>
                  <a:srgbClr val="5E6D82"/>
                </a:solidFill>
                <a:latin typeface="Arial"/>
              </a:defRPr>
            </a:pPr>
            <a:r>
              <a:t>06 · SECURITY</a:t>
            </a:r>
          </a:p>
        </p:txBody>
      </p:sp>
      <p:sp>
        <p:nvSpPr>
          <p:cNvPr id="5" name="TextBox 4"/>
          <p:cNvSpPr txBox="1"/>
          <p:nvPr/>
        </p:nvSpPr>
        <p:spPr>
          <a:xfrm>
            <a:off x="685800" y="987552"/>
            <a:ext cx="10835640" cy="868680"/>
          </a:xfrm>
          <a:prstGeom prst="rect">
            <a:avLst/>
          </a:prstGeom>
          <a:noFill/>
        </p:spPr>
        <p:txBody>
          <a:bodyPr wrap="square" lIns="0" rIns="0" tIns="18288" bIns="18288">
            <a:spAutoFit/>
          </a:bodyPr>
          <a:lstStyle/>
          <a:p>
            <a:pPr>
              <a:spcAft>
                <a:spcPts val="900"/>
              </a:spcAft>
              <a:defRPr sz="3200" b="1">
                <a:solidFill>
                  <a:srgbClr val="17243A"/>
                </a:solidFill>
                <a:latin typeface="Arial"/>
              </a:defRPr>
            </a:pPr>
            <a:r>
              <a:t>Check identity, permission, ownership and input.</a:t>
            </a:r>
          </a:p>
        </p:txBody>
      </p:sp>
      <p:sp>
        <p:nvSpPr>
          <p:cNvPr id="6" name="TextBox 5"/>
          <p:cNvSpPr txBox="1"/>
          <p:nvPr/>
        </p:nvSpPr>
        <p:spPr>
          <a:xfrm>
            <a:off x="713232" y="1856231"/>
            <a:ext cx="10698480" cy="502920"/>
          </a:xfrm>
          <a:prstGeom prst="rect">
            <a:avLst/>
          </a:prstGeom>
          <a:noFill/>
        </p:spPr>
        <p:txBody>
          <a:bodyPr wrap="square" lIns="0" rIns="0" tIns="18288" bIns="18288">
            <a:spAutoFit/>
          </a:bodyPr>
          <a:lstStyle/>
          <a:p>
            <a:pPr>
              <a:spcAft>
                <a:spcPts val="900"/>
              </a:spcAft>
              <a:defRPr sz="1600" b="0">
                <a:solidFill>
                  <a:srgbClr val="5E6D82"/>
                </a:solidFill>
                <a:latin typeface="Arial"/>
              </a:defRPr>
            </a:pPr>
            <a:r>
              <a:t>The browser helps the user; the API decides whether an action is allowed.</a:t>
            </a:r>
          </a:p>
        </p:txBody>
      </p:sp>
      <p:cxnSp>
        <p:nvCxnSpPr>
          <p:cNvPr id="7" name="Connector 6"/>
          <p:cNvCxnSpPr/>
          <p:nvPr/>
        </p:nvCxnSpPr>
        <p:spPr>
          <a:xfrm>
            <a:off x="713232" y="6318504"/>
            <a:ext cx="10762488" cy="0"/>
          </a:xfrm>
          <a:prstGeom prst="line">
            <a:avLst/>
          </a:prstGeom>
          <a:ln w="19050">
            <a:solidFill>
              <a:srgbClr val="D5DDEA"/>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13232" y="6437376"/>
            <a:ext cx="8229600" cy="210312"/>
          </a:xfrm>
          <a:prstGeom prst="rect">
            <a:avLst/>
          </a:prstGeom>
          <a:noFill/>
        </p:spPr>
        <p:txBody>
          <a:bodyPr wrap="square" lIns="0" rIns="0" tIns="18288" bIns="18288">
            <a:spAutoFit/>
          </a:bodyPr>
          <a:lstStyle/>
          <a:p>
            <a:pPr>
              <a:spcAft>
                <a:spcPts val="900"/>
              </a:spcAft>
              <a:defRPr sz="900" b="0">
                <a:solidFill>
                  <a:srgbClr val="5E6D82"/>
                </a:solidFill>
                <a:latin typeface="Arial"/>
              </a:defRPr>
            </a:pPr>
            <a:r>
              <a:t>AMIN H.   /   SECOND-ROUND TECHNICAL INTERVIEW</a:t>
            </a:r>
          </a:p>
        </p:txBody>
      </p:sp>
      <p:sp>
        <p:nvSpPr>
          <p:cNvPr id="9" name="TextBox 8"/>
          <p:cNvSpPr txBox="1"/>
          <p:nvPr/>
        </p:nvSpPr>
        <p:spPr>
          <a:xfrm>
            <a:off x="10835640" y="6419088"/>
            <a:ext cx="731520" cy="237744"/>
          </a:xfrm>
          <a:prstGeom prst="rect">
            <a:avLst/>
          </a:prstGeom>
          <a:noFill/>
        </p:spPr>
        <p:txBody>
          <a:bodyPr wrap="square" lIns="0" rIns="0" tIns="18288" bIns="18288">
            <a:spAutoFit/>
          </a:bodyPr>
          <a:lstStyle/>
          <a:p>
            <a:pPr>
              <a:spcAft>
                <a:spcPts val="900"/>
              </a:spcAft>
              <a:defRPr sz="1000" b="0">
                <a:solidFill>
                  <a:srgbClr val="5E6D82"/>
                </a:solidFill>
                <a:latin typeface="Arial"/>
              </a:defRPr>
            </a:pPr>
            <a:r>
              <a:t>06 / 12</a:t>
            </a:r>
          </a:p>
        </p:txBody>
      </p:sp>
      <p:sp>
        <p:nvSpPr>
          <p:cNvPr id="10" name="TextBox 9"/>
          <p:cNvSpPr txBox="1"/>
          <p:nvPr/>
        </p:nvSpPr>
        <p:spPr>
          <a:xfrm>
            <a:off x="731520" y="2660904"/>
            <a:ext cx="1874519" cy="365760"/>
          </a:xfrm>
          <a:prstGeom prst="rect">
            <a:avLst/>
          </a:prstGeom>
          <a:noFill/>
        </p:spPr>
        <p:txBody>
          <a:bodyPr wrap="square" lIns="0" rIns="0" tIns="18288" bIns="18288">
            <a:spAutoFit/>
          </a:bodyPr>
          <a:lstStyle/>
          <a:p>
            <a:pPr>
              <a:spcAft>
                <a:spcPts val="900"/>
              </a:spcAft>
              <a:defRPr sz="1400" b="1">
                <a:solidFill>
                  <a:srgbClr val="225CDB"/>
                </a:solidFill>
                <a:latin typeface="Arial"/>
              </a:defRPr>
            </a:pPr>
            <a:r>
              <a:t>IDENTITY</a:t>
            </a:r>
          </a:p>
        </p:txBody>
      </p:sp>
      <p:sp>
        <p:nvSpPr>
          <p:cNvPr id="11" name="TextBox 10"/>
          <p:cNvSpPr txBox="1"/>
          <p:nvPr/>
        </p:nvSpPr>
        <p:spPr>
          <a:xfrm>
            <a:off x="2743200" y="2660904"/>
            <a:ext cx="8503920" cy="429768"/>
          </a:xfrm>
          <a:prstGeom prst="rect">
            <a:avLst/>
          </a:prstGeom>
          <a:noFill/>
        </p:spPr>
        <p:txBody>
          <a:bodyPr wrap="square" lIns="0" rIns="0" tIns="18288" bIns="18288">
            <a:spAutoFit/>
          </a:bodyPr>
          <a:lstStyle/>
          <a:p>
            <a:pPr>
              <a:spcAft>
                <a:spcPts val="900"/>
              </a:spcAft>
              <a:defRPr sz="1800" b="0">
                <a:solidFill>
                  <a:srgbClr val="17243A"/>
                </a:solidFill>
                <a:latin typeface="Arial"/>
              </a:defRPr>
            </a:pPr>
            <a:r>
              <a:t>bcrypt hashing (cost 12) · JWT lifetime: eight hours</a:t>
            </a:r>
          </a:p>
        </p:txBody>
      </p:sp>
      <p:cxnSp>
        <p:nvCxnSpPr>
          <p:cNvPr id="12" name="Connector 11"/>
          <p:cNvCxnSpPr/>
          <p:nvPr/>
        </p:nvCxnSpPr>
        <p:spPr>
          <a:xfrm>
            <a:off x="731520" y="3172968"/>
            <a:ext cx="10698480" cy="0"/>
          </a:xfrm>
          <a:prstGeom prst="line">
            <a:avLst/>
          </a:prstGeom>
          <a:ln w="19050">
            <a:solidFill>
              <a:srgbClr val="D5DDEA"/>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1520" y="3282696"/>
            <a:ext cx="1874519" cy="365760"/>
          </a:xfrm>
          <a:prstGeom prst="rect">
            <a:avLst/>
          </a:prstGeom>
          <a:noFill/>
        </p:spPr>
        <p:txBody>
          <a:bodyPr wrap="square" lIns="0" rIns="0" tIns="18288" bIns="18288">
            <a:spAutoFit/>
          </a:bodyPr>
          <a:lstStyle/>
          <a:p>
            <a:pPr>
              <a:spcAft>
                <a:spcPts val="900"/>
              </a:spcAft>
              <a:defRPr sz="1400" b="1">
                <a:solidFill>
                  <a:srgbClr val="225CDB"/>
                </a:solidFill>
                <a:latin typeface="Arial"/>
              </a:defRPr>
            </a:pPr>
            <a:r>
              <a:t>PERMISSION</a:t>
            </a:r>
          </a:p>
        </p:txBody>
      </p:sp>
      <p:sp>
        <p:nvSpPr>
          <p:cNvPr id="14" name="TextBox 13"/>
          <p:cNvSpPr txBox="1"/>
          <p:nvPr/>
        </p:nvSpPr>
        <p:spPr>
          <a:xfrm>
            <a:off x="2743200" y="3282696"/>
            <a:ext cx="8503920" cy="429768"/>
          </a:xfrm>
          <a:prstGeom prst="rect">
            <a:avLst/>
          </a:prstGeom>
          <a:noFill/>
        </p:spPr>
        <p:txBody>
          <a:bodyPr wrap="square" lIns="0" rIns="0" tIns="18288" bIns="18288">
            <a:spAutoFit/>
          </a:bodyPr>
          <a:lstStyle/>
          <a:p>
            <a:pPr>
              <a:spcAft>
                <a:spcPts val="900"/>
              </a:spcAft>
              <a:defRPr sz="1800" b="0">
                <a:solidFill>
                  <a:srgbClr val="17243A"/>
                </a:solidFill>
                <a:latin typeface="Arial"/>
              </a:defRPr>
            </a:pPr>
            <a:r>
              <a:t>Current account role loaded from PostgreSQL on each request</a:t>
            </a:r>
          </a:p>
        </p:txBody>
      </p:sp>
      <p:cxnSp>
        <p:nvCxnSpPr>
          <p:cNvPr id="15" name="Connector 14"/>
          <p:cNvCxnSpPr/>
          <p:nvPr/>
        </p:nvCxnSpPr>
        <p:spPr>
          <a:xfrm>
            <a:off x="731520" y="3794760"/>
            <a:ext cx="10698480" cy="0"/>
          </a:xfrm>
          <a:prstGeom prst="line">
            <a:avLst/>
          </a:prstGeom>
          <a:ln w="19050">
            <a:solidFill>
              <a:srgbClr val="D5DDE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1520" y="3904488"/>
            <a:ext cx="1874519" cy="365760"/>
          </a:xfrm>
          <a:prstGeom prst="rect">
            <a:avLst/>
          </a:prstGeom>
          <a:noFill/>
        </p:spPr>
        <p:txBody>
          <a:bodyPr wrap="square" lIns="0" rIns="0" tIns="18288" bIns="18288">
            <a:spAutoFit/>
          </a:bodyPr>
          <a:lstStyle/>
          <a:p>
            <a:pPr>
              <a:spcAft>
                <a:spcPts val="900"/>
              </a:spcAft>
              <a:defRPr sz="1400" b="1">
                <a:solidFill>
                  <a:srgbClr val="225CDB"/>
                </a:solidFill>
                <a:latin typeface="Arial"/>
              </a:defRPr>
            </a:pPr>
            <a:r>
              <a:t>OWNERSHIP</a:t>
            </a:r>
          </a:p>
        </p:txBody>
      </p:sp>
      <p:sp>
        <p:nvSpPr>
          <p:cNvPr id="17" name="TextBox 16"/>
          <p:cNvSpPr txBox="1"/>
          <p:nvPr/>
        </p:nvSpPr>
        <p:spPr>
          <a:xfrm>
            <a:off x="2743200" y="3904488"/>
            <a:ext cx="8503920" cy="429768"/>
          </a:xfrm>
          <a:prstGeom prst="rect">
            <a:avLst/>
          </a:prstGeom>
          <a:noFill/>
        </p:spPr>
        <p:txBody>
          <a:bodyPr wrap="square" lIns="0" rIns="0" tIns="18288" bIns="18288">
            <a:spAutoFit/>
          </a:bodyPr>
          <a:lstStyle/>
          <a:p>
            <a:pPr>
              <a:spcAft>
                <a:spcPts val="900"/>
              </a:spcAft>
              <a:defRPr sz="1800" b="0">
                <a:solidFill>
                  <a:srgbClr val="17243A"/>
                </a:solidFill>
                <a:latin typeface="Arial"/>
              </a:defRPr>
            </a:pPr>
            <a:r>
              <a:t>Own receipts and vouchers only; owner/admin file downloads</a:t>
            </a:r>
          </a:p>
        </p:txBody>
      </p:sp>
      <p:cxnSp>
        <p:nvCxnSpPr>
          <p:cNvPr id="18" name="Connector 17"/>
          <p:cNvCxnSpPr/>
          <p:nvPr/>
        </p:nvCxnSpPr>
        <p:spPr>
          <a:xfrm>
            <a:off x="731520" y="4416552"/>
            <a:ext cx="10698480" cy="0"/>
          </a:xfrm>
          <a:prstGeom prst="line">
            <a:avLst/>
          </a:prstGeom>
          <a:ln w="19050">
            <a:solidFill>
              <a:srgbClr val="D5DDEA"/>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1520" y="4526280"/>
            <a:ext cx="1874519" cy="365760"/>
          </a:xfrm>
          <a:prstGeom prst="rect">
            <a:avLst/>
          </a:prstGeom>
          <a:noFill/>
        </p:spPr>
        <p:txBody>
          <a:bodyPr wrap="square" lIns="0" rIns="0" tIns="18288" bIns="18288">
            <a:spAutoFit/>
          </a:bodyPr>
          <a:lstStyle/>
          <a:p>
            <a:pPr>
              <a:spcAft>
                <a:spcPts val="900"/>
              </a:spcAft>
              <a:defRPr sz="1400" b="1">
                <a:solidFill>
                  <a:srgbClr val="225CDB"/>
                </a:solidFill>
                <a:latin typeface="Arial"/>
              </a:defRPr>
            </a:pPr>
            <a:r>
              <a:t>INPUT &amp; FILES</a:t>
            </a:r>
          </a:p>
        </p:txBody>
      </p:sp>
      <p:sp>
        <p:nvSpPr>
          <p:cNvPr id="20" name="TextBox 19"/>
          <p:cNvSpPr txBox="1"/>
          <p:nvPr/>
        </p:nvSpPr>
        <p:spPr>
          <a:xfrm>
            <a:off x="2743200" y="4526280"/>
            <a:ext cx="8503920" cy="429768"/>
          </a:xfrm>
          <a:prstGeom prst="rect">
            <a:avLst/>
          </a:prstGeom>
          <a:noFill/>
        </p:spPr>
        <p:txBody>
          <a:bodyPr wrap="square" lIns="0" rIns="0" tIns="18288" bIns="18288">
            <a:spAutoFit/>
          </a:bodyPr>
          <a:lstStyle/>
          <a:p>
            <a:pPr>
              <a:spcAft>
                <a:spcPts val="900"/>
              </a:spcAft>
              <a:defRPr sz="1800" b="0">
                <a:solidFill>
                  <a:srgbClr val="17243A"/>
                </a:solidFill>
                <a:latin typeface="Arial"/>
              </a:defRPr>
            </a:pPr>
            <a:r>
              <a:t>Positive amount, valid date, required fields · allowed types ≤ 5 MB</a:t>
            </a:r>
          </a:p>
        </p:txBody>
      </p:sp>
      <p:cxnSp>
        <p:nvCxnSpPr>
          <p:cNvPr id="21" name="Connector 20"/>
          <p:cNvCxnSpPr/>
          <p:nvPr/>
        </p:nvCxnSpPr>
        <p:spPr>
          <a:xfrm>
            <a:off x="731520" y="5038344"/>
            <a:ext cx="10698480" cy="0"/>
          </a:xfrm>
          <a:prstGeom prst="line">
            <a:avLst/>
          </a:prstGeom>
          <a:ln w="19050">
            <a:solidFill>
              <a:srgbClr val="D5DDE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31520" y="5559552"/>
            <a:ext cx="10698480" cy="457200"/>
          </a:xfrm>
          <a:prstGeom prst="rect">
            <a:avLst/>
          </a:prstGeom>
          <a:noFill/>
        </p:spPr>
        <p:txBody>
          <a:bodyPr wrap="square" lIns="0" rIns="0" tIns="18288" bIns="18288">
            <a:spAutoFit/>
          </a:bodyPr>
          <a:lstStyle/>
          <a:p>
            <a:pPr>
              <a:spcAft>
                <a:spcPts val="900"/>
              </a:spcAft>
              <a:defRPr sz="1700" b="0">
                <a:solidFill>
                  <a:srgbClr val="5E6D82"/>
                </a:solidFill>
                <a:latin typeface="Arial"/>
              </a:defRPr>
            </a:pPr>
            <a:r>
              <a:t>401  Sign in required       403  Access denied       400  Invalid input       409  Conflict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02920" y="438912"/>
            <a:ext cx="73152" cy="228600"/>
          </a:xfrm>
          <a:prstGeom prst="rect">
            <a:avLst/>
          </a:prstGeom>
          <a:solidFill>
            <a:srgbClr val="225C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38912"/>
            <a:ext cx="5486400" cy="228600"/>
          </a:xfrm>
          <a:prstGeom prst="rect">
            <a:avLst/>
          </a:prstGeom>
          <a:noFill/>
        </p:spPr>
        <p:txBody>
          <a:bodyPr wrap="square" lIns="0" rIns="0" tIns="18288" bIns="18288">
            <a:spAutoFit/>
          </a:bodyPr>
          <a:lstStyle/>
          <a:p>
            <a:pPr>
              <a:spcAft>
                <a:spcPts val="900"/>
              </a:spcAft>
              <a:defRPr sz="1100" b="1">
                <a:solidFill>
                  <a:srgbClr val="225CDB"/>
                </a:solidFill>
                <a:latin typeface="Arial"/>
              </a:defRPr>
            </a:pPr>
            <a:r>
              <a:t>PROOF / PERK   ·   ANTLYSIS</a:t>
            </a:r>
          </a:p>
        </p:txBody>
      </p:sp>
      <p:sp>
        <p:nvSpPr>
          <p:cNvPr id="4" name="TextBox 3"/>
          <p:cNvSpPr txBox="1"/>
          <p:nvPr/>
        </p:nvSpPr>
        <p:spPr>
          <a:xfrm>
            <a:off x="8366760" y="438912"/>
            <a:ext cx="3200400" cy="228600"/>
          </a:xfrm>
          <a:prstGeom prst="rect">
            <a:avLst/>
          </a:prstGeom>
          <a:noFill/>
        </p:spPr>
        <p:txBody>
          <a:bodyPr wrap="square" lIns="0" rIns="0" tIns="18288" bIns="18288">
            <a:spAutoFit/>
          </a:bodyPr>
          <a:lstStyle/>
          <a:p>
            <a:pPr>
              <a:spcAft>
                <a:spcPts val="900"/>
              </a:spcAft>
              <a:defRPr sz="1000" b="0">
                <a:solidFill>
                  <a:srgbClr val="5E6D82"/>
                </a:solidFill>
                <a:latin typeface="Arial"/>
              </a:defRPr>
            </a:pPr>
            <a:r>
              <a:t>07 · VERIFICATION</a:t>
            </a:r>
          </a:p>
        </p:txBody>
      </p:sp>
      <p:sp>
        <p:nvSpPr>
          <p:cNvPr id="5" name="TextBox 4"/>
          <p:cNvSpPr txBox="1"/>
          <p:nvPr/>
        </p:nvSpPr>
        <p:spPr>
          <a:xfrm>
            <a:off x="685800" y="987552"/>
            <a:ext cx="10835640" cy="868680"/>
          </a:xfrm>
          <a:prstGeom prst="rect">
            <a:avLst/>
          </a:prstGeom>
          <a:noFill/>
        </p:spPr>
        <p:txBody>
          <a:bodyPr wrap="square" lIns="0" rIns="0" tIns="18288" bIns="18288">
            <a:spAutoFit/>
          </a:bodyPr>
          <a:lstStyle/>
          <a:p>
            <a:pPr>
              <a:spcAft>
                <a:spcPts val="900"/>
              </a:spcAft>
              <a:defRPr sz="3200" b="1">
                <a:solidFill>
                  <a:srgbClr val="17243A"/>
                </a:solidFill>
                <a:latin typeface="Arial"/>
              </a:defRPr>
            </a:pPr>
            <a:r>
              <a:t>Test the happy path and the failure cases.</a:t>
            </a:r>
          </a:p>
        </p:txBody>
      </p:sp>
      <p:sp>
        <p:nvSpPr>
          <p:cNvPr id="6" name="TextBox 5"/>
          <p:cNvSpPr txBox="1"/>
          <p:nvPr/>
        </p:nvSpPr>
        <p:spPr>
          <a:xfrm>
            <a:off x="713232" y="1856231"/>
            <a:ext cx="10698480" cy="502920"/>
          </a:xfrm>
          <a:prstGeom prst="rect">
            <a:avLst/>
          </a:prstGeom>
          <a:noFill/>
        </p:spPr>
        <p:txBody>
          <a:bodyPr wrap="square" lIns="0" rIns="0" tIns="18288" bIns="18288">
            <a:spAutoFit/>
          </a:bodyPr>
          <a:lstStyle/>
          <a:p>
            <a:pPr>
              <a:spcAft>
                <a:spcPts val="900"/>
              </a:spcAft>
              <a:defRPr sz="1600" b="0">
                <a:solidFill>
                  <a:srgbClr val="5E6D82"/>
                </a:solidFill>
                <a:latin typeface="Arial"/>
              </a:defRPr>
            </a:pPr>
            <a:r>
              <a:t>Recorded verification: 2 September 2026 · Local Docker deployment</a:t>
            </a:r>
          </a:p>
        </p:txBody>
      </p:sp>
      <p:cxnSp>
        <p:nvCxnSpPr>
          <p:cNvPr id="7" name="Connector 6"/>
          <p:cNvCxnSpPr/>
          <p:nvPr/>
        </p:nvCxnSpPr>
        <p:spPr>
          <a:xfrm>
            <a:off x="713232" y="6318504"/>
            <a:ext cx="10762488" cy="0"/>
          </a:xfrm>
          <a:prstGeom prst="line">
            <a:avLst/>
          </a:prstGeom>
          <a:ln w="19050">
            <a:solidFill>
              <a:srgbClr val="D5DDEA"/>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13232" y="6437376"/>
            <a:ext cx="8229600" cy="210312"/>
          </a:xfrm>
          <a:prstGeom prst="rect">
            <a:avLst/>
          </a:prstGeom>
          <a:noFill/>
        </p:spPr>
        <p:txBody>
          <a:bodyPr wrap="square" lIns="0" rIns="0" tIns="18288" bIns="18288">
            <a:spAutoFit/>
          </a:bodyPr>
          <a:lstStyle/>
          <a:p>
            <a:pPr>
              <a:spcAft>
                <a:spcPts val="900"/>
              </a:spcAft>
              <a:defRPr sz="900" b="0">
                <a:solidFill>
                  <a:srgbClr val="5E6D82"/>
                </a:solidFill>
                <a:latin typeface="Arial"/>
              </a:defRPr>
            </a:pPr>
            <a:r>
              <a:t>AMIN H.   /   SECOND-ROUND TECHNICAL INTERVIEW</a:t>
            </a:r>
          </a:p>
        </p:txBody>
      </p:sp>
      <p:sp>
        <p:nvSpPr>
          <p:cNvPr id="9" name="TextBox 8"/>
          <p:cNvSpPr txBox="1"/>
          <p:nvPr/>
        </p:nvSpPr>
        <p:spPr>
          <a:xfrm>
            <a:off x="10835640" y="6419088"/>
            <a:ext cx="731520" cy="237744"/>
          </a:xfrm>
          <a:prstGeom prst="rect">
            <a:avLst/>
          </a:prstGeom>
          <a:noFill/>
        </p:spPr>
        <p:txBody>
          <a:bodyPr wrap="square" lIns="0" rIns="0" tIns="18288" bIns="18288">
            <a:spAutoFit/>
          </a:bodyPr>
          <a:lstStyle/>
          <a:p>
            <a:pPr>
              <a:spcAft>
                <a:spcPts val="900"/>
              </a:spcAft>
              <a:defRPr sz="1000" b="0">
                <a:solidFill>
                  <a:srgbClr val="5E6D82"/>
                </a:solidFill>
                <a:latin typeface="Arial"/>
              </a:defRPr>
            </a:pPr>
            <a:r>
              <a:t>07 / 12</a:t>
            </a:r>
          </a:p>
        </p:txBody>
      </p:sp>
      <p:sp>
        <p:nvSpPr>
          <p:cNvPr id="10" name="TextBox 9"/>
          <p:cNvSpPr txBox="1"/>
          <p:nvPr/>
        </p:nvSpPr>
        <p:spPr>
          <a:xfrm>
            <a:off x="731520" y="2743200"/>
            <a:ext cx="3200400" cy="731520"/>
          </a:xfrm>
          <a:prstGeom prst="rect">
            <a:avLst/>
          </a:prstGeom>
          <a:noFill/>
        </p:spPr>
        <p:txBody>
          <a:bodyPr wrap="square" lIns="0" rIns="0" tIns="18288" bIns="18288">
            <a:spAutoFit/>
          </a:bodyPr>
          <a:lstStyle/>
          <a:p>
            <a:pPr>
              <a:spcAft>
                <a:spcPts val="900"/>
              </a:spcAft>
              <a:defRPr sz="4500" b="1">
                <a:solidFill>
                  <a:srgbClr val="225CDB"/>
                </a:solidFill>
                <a:latin typeface="Arial"/>
              </a:defRPr>
            </a:pPr>
            <a:r>
              <a:t>9 / 9</a:t>
            </a:r>
          </a:p>
        </p:txBody>
      </p:sp>
      <p:sp>
        <p:nvSpPr>
          <p:cNvPr id="11" name="TextBox 10"/>
          <p:cNvSpPr txBox="1"/>
          <p:nvPr/>
        </p:nvSpPr>
        <p:spPr>
          <a:xfrm>
            <a:off x="731520" y="3675887"/>
            <a:ext cx="3200400" cy="365760"/>
          </a:xfrm>
          <a:prstGeom prst="rect">
            <a:avLst/>
          </a:prstGeom>
          <a:noFill/>
        </p:spPr>
        <p:txBody>
          <a:bodyPr wrap="square" lIns="0" rIns="0" tIns="18288" bIns="18288">
            <a:spAutoFit/>
          </a:bodyPr>
          <a:lstStyle/>
          <a:p>
            <a:pPr>
              <a:spcAft>
                <a:spcPts val="900"/>
              </a:spcAft>
              <a:defRPr sz="1500" b="1">
                <a:solidFill>
                  <a:srgbClr val="17243A"/>
                </a:solidFill>
                <a:latin typeface="Arial"/>
              </a:defRPr>
            </a:pPr>
            <a:r>
              <a:t>AUTOMATED TESTS</a:t>
            </a:r>
          </a:p>
        </p:txBody>
      </p:sp>
      <p:sp>
        <p:nvSpPr>
          <p:cNvPr id="12" name="TextBox 11"/>
          <p:cNvSpPr txBox="1"/>
          <p:nvPr/>
        </p:nvSpPr>
        <p:spPr>
          <a:xfrm>
            <a:off x="731520" y="4178808"/>
            <a:ext cx="3108960" cy="731520"/>
          </a:xfrm>
          <a:prstGeom prst="rect">
            <a:avLst/>
          </a:prstGeom>
          <a:noFill/>
        </p:spPr>
        <p:txBody>
          <a:bodyPr wrap="square" lIns="0" rIns="0" tIns="18288" bIns="18288">
            <a:spAutoFit/>
          </a:bodyPr>
          <a:lstStyle/>
          <a:p>
            <a:pPr>
              <a:spcAft>
                <a:spcPts val="900"/>
              </a:spcAft>
              <a:defRPr sz="1700" b="0">
                <a:solidFill>
                  <a:srgbClr val="5E6D82"/>
                </a:solidFill>
                <a:latin typeface="Arial"/>
              </a:defRPr>
            </a:pPr>
            <a:r>
              <a:t>Validation and approval service</a:t>
            </a:r>
          </a:p>
        </p:txBody>
      </p:sp>
      <p:sp>
        <p:nvSpPr>
          <p:cNvPr id="13" name="TextBox 12"/>
          <p:cNvSpPr txBox="1"/>
          <p:nvPr/>
        </p:nvSpPr>
        <p:spPr>
          <a:xfrm>
            <a:off x="4480560" y="2743200"/>
            <a:ext cx="3200400" cy="731520"/>
          </a:xfrm>
          <a:prstGeom prst="rect">
            <a:avLst/>
          </a:prstGeom>
          <a:noFill/>
        </p:spPr>
        <p:txBody>
          <a:bodyPr wrap="square" lIns="0" rIns="0" tIns="18288" bIns="18288">
            <a:spAutoFit/>
          </a:bodyPr>
          <a:lstStyle/>
          <a:p>
            <a:pPr>
              <a:spcAft>
                <a:spcPts val="900"/>
              </a:spcAft>
              <a:defRPr sz="4500" b="1">
                <a:solidFill>
                  <a:srgbClr val="225CDB"/>
                </a:solidFill>
                <a:latin typeface="Arial"/>
              </a:defRPr>
            </a:pPr>
            <a:r>
              <a:t>53</a:t>
            </a:r>
          </a:p>
        </p:txBody>
      </p:sp>
      <p:sp>
        <p:nvSpPr>
          <p:cNvPr id="14" name="TextBox 13"/>
          <p:cNvSpPr txBox="1"/>
          <p:nvPr/>
        </p:nvSpPr>
        <p:spPr>
          <a:xfrm>
            <a:off x="4480560" y="3675887"/>
            <a:ext cx="3200400" cy="365760"/>
          </a:xfrm>
          <a:prstGeom prst="rect">
            <a:avLst/>
          </a:prstGeom>
          <a:noFill/>
        </p:spPr>
        <p:txBody>
          <a:bodyPr wrap="square" lIns="0" rIns="0" tIns="18288" bIns="18288">
            <a:spAutoFit/>
          </a:bodyPr>
          <a:lstStyle/>
          <a:p>
            <a:pPr>
              <a:spcAft>
                <a:spcPts val="900"/>
              </a:spcAft>
              <a:defRPr sz="1500" b="1">
                <a:solidFill>
                  <a:srgbClr val="17243A"/>
                </a:solidFill>
                <a:latin typeface="Arial"/>
              </a:defRPr>
            </a:pPr>
            <a:r>
              <a:t>API REQUESTS</a:t>
            </a:r>
          </a:p>
        </p:txBody>
      </p:sp>
      <p:sp>
        <p:nvSpPr>
          <p:cNvPr id="15" name="TextBox 14"/>
          <p:cNvSpPr txBox="1"/>
          <p:nvPr/>
        </p:nvSpPr>
        <p:spPr>
          <a:xfrm>
            <a:off x="4480560" y="4178808"/>
            <a:ext cx="3108960" cy="731520"/>
          </a:xfrm>
          <a:prstGeom prst="rect">
            <a:avLst/>
          </a:prstGeom>
          <a:noFill/>
        </p:spPr>
        <p:txBody>
          <a:bodyPr wrap="square" lIns="0" rIns="0" tIns="18288" bIns="18288">
            <a:spAutoFit/>
          </a:bodyPr>
          <a:lstStyle/>
          <a:p>
            <a:pPr>
              <a:spcAft>
                <a:spcPts val="900"/>
              </a:spcAft>
              <a:defRPr sz="1700" b="0">
                <a:solidFill>
                  <a:srgbClr val="5E6D82"/>
                </a:solidFill>
                <a:latin typeface="Arial"/>
              </a:defRPr>
            </a:pPr>
            <a:r>
              <a:t>Full Postman acceptance flow</a:t>
            </a:r>
          </a:p>
        </p:txBody>
      </p:sp>
      <p:sp>
        <p:nvSpPr>
          <p:cNvPr id="16" name="TextBox 15"/>
          <p:cNvSpPr txBox="1"/>
          <p:nvPr/>
        </p:nvSpPr>
        <p:spPr>
          <a:xfrm>
            <a:off x="8229600" y="2743200"/>
            <a:ext cx="3200400" cy="731520"/>
          </a:xfrm>
          <a:prstGeom prst="rect">
            <a:avLst/>
          </a:prstGeom>
          <a:noFill/>
        </p:spPr>
        <p:txBody>
          <a:bodyPr wrap="square" lIns="0" rIns="0" tIns="18288" bIns="18288">
            <a:spAutoFit/>
          </a:bodyPr>
          <a:lstStyle/>
          <a:p>
            <a:pPr>
              <a:spcAft>
                <a:spcPts val="900"/>
              </a:spcAft>
              <a:defRPr sz="4500" b="1">
                <a:solidFill>
                  <a:srgbClr val="225CDB"/>
                </a:solidFill>
                <a:latin typeface="Arial"/>
              </a:defRPr>
            </a:pPr>
            <a:r>
              <a:t>137 / 137</a:t>
            </a:r>
          </a:p>
        </p:txBody>
      </p:sp>
      <p:sp>
        <p:nvSpPr>
          <p:cNvPr id="17" name="TextBox 16"/>
          <p:cNvSpPr txBox="1"/>
          <p:nvPr/>
        </p:nvSpPr>
        <p:spPr>
          <a:xfrm>
            <a:off x="8229600" y="3675887"/>
            <a:ext cx="3200400" cy="365760"/>
          </a:xfrm>
          <a:prstGeom prst="rect">
            <a:avLst/>
          </a:prstGeom>
          <a:noFill/>
        </p:spPr>
        <p:txBody>
          <a:bodyPr wrap="square" lIns="0" rIns="0" tIns="18288" bIns="18288">
            <a:spAutoFit/>
          </a:bodyPr>
          <a:lstStyle/>
          <a:p>
            <a:pPr>
              <a:spcAft>
                <a:spcPts val="900"/>
              </a:spcAft>
              <a:defRPr sz="1500" b="1">
                <a:solidFill>
                  <a:srgbClr val="17243A"/>
                </a:solidFill>
                <a:latin typeface="Arial"/>
              </a:defRPr>
            </a:pPr>
            <a:r>
              <a:t>ASSERTIONS PASSED</a:t>
            </a:r>
          </a:p>
        </p:txBody>
      </p:sp>
      <p:sp>
        <p:nvSpPr>
          <p:cNvPr id="18" name="TextBox 17"/>
          <p:cNvSpPr txBox="1"/>
          <p:nvPr/>
        </p:nvSpPr>
        <p:spPr>
          <a:xfrm>
            <a:off x="8229600" y="4178808"/>
            <a:ext cx="3108960" cy="731520"/>
          </a:xfrm>
          <a:prstGeom prst="rect">
            <a:avLst/>
          </a:prstGeom>
          <a:noFill/>
        </p:spPr>
        <p:txBody>
          <a:bodyPr wrap="square" lIns="0" rIns="0" tIns="18288" bIns="18288">
            <a:spAutoFit/>
          </a:bodyPr>
          <a:lstStyle/>
          <a:p>
            <a:pPr>
              <a:spcAft>
                <a:spcPts val="900"/>
              </a:spcAft>
              <a:defRPr sz="1700" b="0">
                <a:solidFill>
                  <a:srgbClr val="5E6D82"/>
                </a:solidFill>
                <a:latin typeface="Arial"/>
              </a:defRPr>
            </a:pPr>
            <a:r>
              <a:t>Ownership, decisions and errors</a:t>
            </a:r>
          </a:p>
        </p:txBody>
      </p:sp>
      <p:cxnSp>
        <p:nvCxnSpPr>
          <p:cNvPr id="19" name="Connector 18"/>
          <p:cNvCxnSpPr/>
          <p:nvPr/>
        </p:nvCxnSpPr>
        <p:spPr>
          <a:xfrm>
            <a:off x="731520" y="5102352"/>
            <a:ext cx="10698480" cy="0"/>
          </a:xfrm>
          <a:prstGeom prst="line">
            <a:avLst/>
          </a:prstGeom>
          <a:ln w="19050">
            <a:solidFill>
              <a:srgbClr val="D5DDE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1520" y="5404104"/>
            <a:ext cx="10607040" cy="548640"/>
          </a:xfrm>
          <a:prstGeom prst="rect">
            <a:avLst/>
          </a:prstGeom>
          <a:noFill/>
        </p:spPr>
        <p:txBody>
          <a:bodyPr wrap="square" lIns="0" rIns="0" tIns="18288" bIns="18288">
            <a:spAutoFit/>
          </a:bodyPr>
          <a:lstStyle/>
          <a:p>
            <a:pPr>
              <a:spcAft>
                <a:spcPts val="900"/>
              </a:spcAft>
              <a:defRPr sz="1900" b="0">
                <a:solidFill>
                  <a:srgbClr val="17243A"/>
                </a:solidFill>
                <a:latin typeface="Arial"/>
              </a:defRPr>
            </a:pPr>
            <a:r>
              <a:t>Also checked: Docker startup, schema/seed, production build and HTTPS deployment.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502920" y="438912"/>
            <a:ext cx="73152" cy="228600"/>
          </a:xfrm>
          <a:prstGeom prst="rect">
            <a:avLst/>
          </a:prstGeom>
          <a:solidFill>
            <a:srgbClr val="225C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38912"/>
            <a:ext cx="5486400" cy="228600"/>
          </a:xfrm>
          <a:prstGeom prst="rect">
            <a:avLst/>
          </a:prstGeom>
          <a:noFill/>
        </p:spPr>
        <p:txBody>
          <a:bodyPr wrap="square" lIns="0" rIns="0" tIns="18288" bIns="18288">
            <a:spAutoFit/>
          </a:bodyPr>
          <a:lstStyle/>
          <a:p>
            <a:pPr>
              <a:spcAft>
                <a:spcPts val="900"/>
              </a:spcAft>
              <a:defRPr sz="1100" b="1">
                <a:solidFill>
                  <a:srgbClr val="225CDB"/>
                </a:solidFill>
                <a:latin typeface="Arial"/>
              </a:defRPr>
            </a:pPr>
            <a:r>
              <a:t>PROOF / PERK   ·   ANTLYSIS</a:t>
            </a:r>
          </a:p>
        </p:txBody>
      </p:sp>
      <p:sp>
        <p:nvSpPr>
          <p:cNvPr id="4" name="TextBox 3"/>
          <p:cNvSpPr txBox="1"/>
          <p:nvPr/>
        </p:nvSpPr>
        <p:spPr>
          <a:xfrm>
            <a:off x="8366760" y="438912"/>
            <a:ext cx="3200400" cy="228600"/>
          </a:xfrm>
          <a:prstGeom prst="rect">
            <a:avLst/>
          </a:prstGeom>
          <a:noFill/>
        </p:spPr>
        <p:txBody>
          <a:bodyPr wrap="square" lIns="0" rIns="0" tIns="18288" bIns="18288">
            <a:spAutoFit/>
          </a:bodyPr>
          <a:lstStyle/>
          <a:p>
            <a:pPr>
              <a:spcAft>
                <a:spcPts val="900"/>
              </a:spcAft>
              <a:defRPr sz="1000" b="0">
                <a:solidFill>
                  <a:srgbClr val="5E6D82"/>
                </a:solidFill>
                <a:latin typeface="Arial"/>
              </a:defRPr>
            </a:pPr>
            <a:r>
              <a:t>08 · DELIVERY &amp; OWNERSHIP</a:t>
            </a:r>
          </a:p>
        </p:txBody>
      </p:sp>
      <p:sp>
        <p:nvSpPr>
          <p:cNvPr id="5" name="TextBox 4"/>
          <p:cNvSpPr txBox="1"/>
          <p:nvPr/>
        </p:nvSpPr>
        <p:spPr>
          <a:xfrm>
            <a:off x="685800" y="987552"/>
            <a:ext cx="10835640" cy="868680"/>
          </a:xfrm>
          <a:prstGeom prst="rect">
            <a:avLst/>
          </a:prstGeom>
          <a:noFill/>
        </p:spPr>
        <p:txBody>
          <a:bodyPr wrap="square" lIns="0" rIns="0" tIns="18288" bIns="18288">
            <a:spAutoFit/>
          </a:bodyPr>
          <a:lstStyle/>
          <a:p>
            <a:pPr>
              <a:spcAft>
                <a:spcPts val="900"/>
              </a:spcAft>
              <a:defRPr sz="3200" b="1">
                <a:solidFill>
                  <a:srgbClr val="17243A"/>
                </a:solidFill>
                <a:latin typeface="Arial"/>
              </a:defRPr>
            </a:pPr>
            <a:r>
              <a:t>Easy to run. Clear to review and extend.</a:t>
            </a:r>
          </a:p>
        </p:txBody>
      </p:sp>
      <p:sp>
        <p:nvSpPr>
          <p:cNvPr id="6" name="TextBox 5"/>
          <p:cNvSpPr txBox="1"/>
          <p:nvPr/>
        </p:nvSpPr>
        <p:spPr>
          <a:xfrm>
            <a:off x="713232" y="1856231"/>
            <a:ext cx="10698480" cy="502920"/>
          </a:xfrm>
          <a:prstGeom prst="rect">
            <a:avLst/>
          </a:prstGeom>
          <a:noFill/>
        </p:spPr>
        <p:txBody>
          <a:bodyPr wrap="square" lIns="0" rIns="0" tIns="18288" bIns="18288">
            <a:spAutoFit/>
          </a:bodyPr>
          <a:lstStyle/>
          <a:p>
            <a:pPr>
              <a:spcAft>
                <a:spcPts val="900"/>
              </a:spcAft>
              <a:defRPr sz="1600" b="0">
                <a:solidFill>
                  <a:srgbClr val="5E6D82"/>
                </a:solidFill>
                <a:latin typeface="Arial"/>
              </a:defRPr>
            </a:pPr>
            <a:r>
              <a:t>A small deployment with explicit tradeoffs and documented AI assistance.</a:t>
            </a:r>
          </a:p>
        </p:txBody>
      </p:sp>
      <p:cxnSp>
        <p:nvCxnSpPr>
          <p:cNvPr id="7" name="Connector 6"/>
          <p:cNvCxnSpPr/>
          <p:nvPr/>
        </p:nvCxnSpPr>
        <p:spPr>
          <a:xfrm>
            <a:off x="713232" y="6318504"/>
            <a:ext cx="10762488" cy="0"/>
          </a:xfrm>
          <a:prstGeom prst="line">
            <a:avLst/>
          </a:prstGeom>
          <a:ln w="19050">
            <a:solidFill>
              <a:srgbClr val="D5DDEA"/>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13232" y="6437376"/>
            <a:ext cx="8229600" cy="210312"/>
          </a:xfrm>
          <a:prstGeom prst="rect">
            <a:avLst/>
          </a:prstGeom>
          <a:noFill/>
        </p:spPr>
        <p:txBody>
          <a:bodyPr wrap="square" lIns="0" rIns="0" tIns="18288" bIns="18288">
            <a:spAutoFit/>
          </a:bodyPr>
          <a:lstStyle/>
          <a:p>
            <a:pPr>
              <a:spcAft>
                <a:spcPts val="900"/>
              </a:spcAft>
              <a:defRPr sz="900" b="0">
                <a:solidFill>
                  <a:srgbClr val="5E6D82"/>
                </a:solidFill>
                <a:latin typeface="Arial"/>
              </a:defRPr>
            </a:pPr>
            <a:r>
              <a:t>AMIN H.   /   SECOND-ROUND TECHNICAL INTERVIEW</a:t>
            </a:r>
          </a:p>
        </p:txBody>
      </p:sp>
      <p:sp>
        <p:nvSpPr>
          <p:cNvPr id="9" name="TextBox 8"/>
          <p:cNvSpPr txBox="1"/>
          <p:nvPr/>
        </p:nvSpPr>
        <p:spPr>
          <a:xfrm>
            <a:off x="10835640" y="6419088"/>
            <a:ext cx="731520" cy="237744"/>
          </a:xfrm>
          <a:prstGeom prst="rect">
            <a:avLst/>
          </a:prstGeom>
          <a:noFill/>
        </p:spPr>
        <p:txBody>
          <a:bodyPr wrap="square" lIns="0" rIns="0" tIns="18288" bIns="18288">
            <a:spAutoFit/>
          </a:bodyPr>
          <a:lstStyle/>
          <a:p>
            <a:pPr>
              <a:spcAft>
                <a:spcPts val="900"/>
              </a:spcAft>
              <a:defRPr sz="1000" b="0">
                <a:solidFill>
                  <a:srgbClr val="5E6D82"/>
                </a:solidFill>
                <a:latin typeface="Arial"/>
              </a:defRPr>
            </a:pPr>
            <a:r>
              <a:t>08 / 12</a:t>
            </a:r>
          </a:p>
        </p:txBody>
      </p:sp>
      <p:sp>
        <p:nvSpPr>
          <p:cNvPr id="10" name="TextBox 9"/>
          <p:cNvSpPr txBox="1"/>
          <p:nvPr/>
        </p:nvSpPr>
        <p:spPr>
          <a:xfrm>
            <a:off x="731520" y="2642616"/>
            <a:ext cx="5074920" cy="365760"/>
          </a:xfrm>
          <a:prstGeom prst="rect">
            <a:avLst/>
          </a:prstGeom>
          <a:noFill/>
        </p:spPr>
        <p:txBody>
          <a:bodyPr wrap="square" lIns="0" rIns="0" tIns="18288" bIns="18288">
            <a:spAutoFit/>
          </a:bodyPr>
          <a:lstStyle/>
          <a:p>
            <a:pPr>
              <a:spcAft>
                <a:spcPts val="900"/>
              </a:spcAft>
              <a:defRPr sz="1900" b="1">
                <a:solidFill>
                  <a:srgbClr val="17243A"/>
                </a:solidFill>
                <a:latin typeface="Arial"/>
              </a:defRPr>
            </a:pPr>
            <a:r>
              <a:t>REPRODUCIBLE DELIVERY</a:t>
            </a:r>
          </a:p>
        </p:txBody>
      </p:sp>
      <p:sp>
        <p:nvSpPr>
          <p:cNvPr id="11" name="TextBox 10"/>
          <p:cNvSpPr txBox="1"/>
          <p:nvPr/>
        </p:nvSpPr>
        <p:spPr>
          <a:xfrm>
            <a:off x="731520" y="3099816"/>
            <a:ext cx="5074920" cy="914400"/>
          </a:xfrm>
          <a:prstGeom prst="rect">
            <a:avLst/>
          </a:prstGeom>
          <a:noFill/>
        </p:spPr>
        <p:txBody>
          <a:bodyPr wrap="square" lIns="0" rIns="0" tIns="18288" bIns="18288">
            <a:spAutoFit/>
          </a:bodyPr>
          <a:lstStyle/>
          <a:p>
            <a:pPr>
              <a:spcAft>
                <a:spcPts val="900"/>
              </a:spcAft>
              <a:defRPr sz="1700" b="0">
                <a:solidFill>
                  <a:srgbClr val="5E6D82"/>
                </a:solidFill>
                <a:latin typeface="Arial"/>
              </a:defRPr>
            </a:pPr>
            <a:r>
              <a:t>make → Docker → schema + admin seed</a:t>
            </a:r>
          </a:p>
          <a:p>
            <a:pPr>
              <a:spcAft>
                <a:spcPts val="900"/>
              </a:spcAft>
              <a:defRPr sz="1700" b="0">
                <a:solidFill>
                  <a:srgbClr val="5E6D82"/>
                </a:solidFill>
                <a:latin typeface="Arial"/>
              </a:defRPr>
            </a:pPr>
            <a:r>
              <a:t>CI tests/builds → image → VPS health check</a:t>
            </a:r>
          </a:p>
        </p:txBody>
      </p:sp>
      <p:sp>
        <p:nvSpPr>
          <p:cNvPr id="12" name="TextBox 11"/>
          <p:cNvSpPr txBox="1"/>
          <p:nvPr/>
        </p:nvSpPr>
        <p:spPr>
          <a:xfrm>
            <a:off x="6400800" y="2642616"/>
            <a:ext cx="4983480" cy="365760"/>
          </a:xfrm>
          <a:prstGeom prst="rect">
            <a:avLst/>
          </a:prstGeom>
          <a:noFill/>
        </p:spPr>
        <p:txBody>
          <a:bodyPr wrap="square" lIns="0" rIns="0" tIns="18288" bIns="18288">
            <a:spAutoFit/>
          </a:bodyPr>
          <a:lstStyle/>
          <a:p>
            <a:pPr>
              <a:spcAft>
                <a:spcPts val="900"/>
              </a:spcAft>
              <a:defRPr sz="1900" b="1">
                <a:solidFill>
                  <a:srgbClr val="17243A"/>
                </a:solidFill>
                <a:latin typeface="Arial"/>
              </a:defRPr>
            </a:pPr>
            <a:r>
              <a:t>MY CONTRIBUTION</a:t>
            </a:r>
          </a:p>
        </p:txBody>
      </p:sp>
      <p:sp>
        <p:nvSpPr>
          <p:cNvPr id="13" name="TextBox 12"/>
          <p:cNvSpPr txBox="1"/>
          <p:nvPr/>
        </p:nvSpPr>
        <p:spPr>
          <a:xfrm>
            <a:off x="6400800" y="3099816"/>
            <a:ext cx="4983480" cy="914400"/>
          </a:xfrm>
          <a:prstGeom prst="rect">
            <a:avLst/>
          </a:prstGeom>
          <a:noFill/>
        </p:spPr>
        <p:txBody>
          <a:bodyPr wrap="square" lIns="0" rIns="0" tIns="18288" bIns="18288">
            <a:spAutoFit/>
          </a:bodyPr>
          <a:lstStyle/>
          <a:p>
            <a:pPr>
              <a:spcAft>
                <a:spcPts val="900"/>
              </a:spcAft>
              <a:defRPr sz="1700" b="0">
                <a:solidFill>
                  <a:srgbClr val="5E6D82"/>
                </a:solidFill>
                <a:latin typeface="Arial"/>
              </a:defRPr>
            </a:pPr>
            <a:r>
              <a:t>Technical brief and requirements</a:t>
            </a:r>
          </a:p>
          <a:p>
            <a:pPr>
              <a:spcAft>
                <a:spcPts val="900"/>
              </a:spcAft>
              <a:defRPr sz="1700" b="0">
                <a:solidFill>
                  <a:srgbClr val="5E6D82"/>
                </a:solidFill>
                <a:latin typeface="Arial"/>
              </a:defRPr>
            </a:pPr>
            <a:r>
              <a:t>UX direction, review, UAT and final decisions</a:t>
            </a:r>
          </a:p>
        </p:txBody>
      </p:sp>
      <p:cxnSp>
        <p:nvCxnSpPr>
          <p:cNvPr id="14" name="Connector 13"/>
          <p:cNvCxnSpPr/>
          <p:nvPr/>
        </p:nvCxnSpPr>
        <p:spPr>
          <a:xfrm>
            <a:off x="731520" y="4443984"/>
            <a:ext cx="10698480" cy="0"/>
          </a:xfrm>
          <a:prstGeom prst="line">
            <a:avLst/>
          </a:prstGeom>
          <a:ln w="19050">
            <a:solidFill>
              <a:srgbClr val="D5DDE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31520" y="4727448"/>
            <a:ext cx="2560320" cy="365760"/>
          </a:xfrm>
          <a:prstGeom prst="rect">
            <a:avLst/>
          </a:prstGeom>
          <a:noFill/>
        </p:spPr>
        <p:txBody>
          <a:bodyPr wrap="square" lIns="0" rIns="0" tIns="18288" bIns="18288">
            <a:spAutoFit/>
          </a:bodyPr>
          <a:lstStyle/>
          <a:p>
            <a:pPr>
              <a:spcAft>
                <a:spcPts val="900"/>
              </a:spcAft>
              <a:defRPr sz="1500" b="1">
                <a:solidFill>
                  <a:srgbClr val="225CDB"/>
                </a:solidFill>
                <a:latin typeface="Arial"/>
              </a:defRPr>
            </a:pPr>
            <a:r>
              <a:t>NEXT ITERATION</a:t>
            </a:r>
          </a:p>
        </p:txBody>
      </p:sp>
      <p:sp>
        <p:nvSpPr>
          <p:cNvPr id="16" name="TextBox 15"/>
          <p:cNvSpPr txBox="1"/>
          <p:nvPr/>
        </p:nvSpPr>
        <p:spPr>
          <a:xfrm>
            <a:off x="731520" y="5312664"/>
            <a:ext cx="10698480" cy="530352"/>
          </a:xfrm>
          <a:prstGeom prst="rect">
            <a:avLst/>
          </a:prstGeom>
          <a:noFill/>
        </p:spPr>
        <p:txBody>
          <a:bodyPr wrap="square" lIns="0" rIns="0" tIns="18288" bIns="18288">
            <a:spAutoFit/>
          </a:bodyPr>
          <a:lstStyle/>
          <a:p>
            <a:pPr>
              <a:spcAft>
                <a:spcPts val="900"/>
              </a:spcAft>
              <a:defRPr sz="2100" b="1">
                <a:solidFill>
                  <a:srgbClr val="17243A"/>
                </a:solidFill>
                <a:latin typeface="Arial"/>
              </a:defRPr>
            </a:pPr>
            <a:r>
              <a:t>Object storage · versioned migrations · rate limiting · session revocation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C30"/>
        </a:solidFill>
        <a:effectLst/>
      </p:bgPr>
    </p:bg>
    <p:spTree>
      <p:nvGrpSpPr>
        <p:cNvPr id="1" name=""/>
        <p:cNvGrpSpPr/>
        <p:nvPr/>
      </p:nvGrpSpPr>
      <p:grpSpPr/>
      <p:sp>
        <p:nvSpPr>
          <p:cNvPr id="2" name="Rectangle 1"/>
          <p:cNvSpPr/>
          <p:nvPr/>
        </p:nvSpPr>
        <p:spPr>
          <a:xfrm>
            <a:off x="502920" y="438912"/>
            <a:ext cx="73152" cy="228600"/>
          </a:xfrm>
          <a:prstGeom prst="rect">
            <a:avLst/>
          </a:prstGeom>
          <a:solidFill>
            <a:srgbClr val="225C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438912"/>
            <a:ext cx="5486400" cy="228600"/>
          </a:xfrm>
          <a:prstGeom prst="rect">
            <a:avLst/>
          </a:prstGeom>
          <a:noFill/>
        </p:spPr>
        <p:txBody>
          <a:bodyPr wrap="square" lIns="0" rIns="0" tIns="18288" bIns="18288">
            <a:spAutoFit/>
          </a:bodyPr>
          <a:lstStyle/>
          <a:p>
            <a:pPr>
              <a:spcAft>
                <a:spcPts val="900"/>
              </a:spcAft>
              <a:defRPr sz="1100" b="1">
                <a:solidFill>
                  <a:srgbClr val="ABC1EA"/>
                </a:solidFill>
                <a:latin typeface="Arial"/>
              </a:defRPr>
            </a:pPr>
            <a:r>
              <a:t>PROOF / PERK   ·   ANTLYSIS</a:t>
            </a:r>
          </a:p>
        </p:txBody>
      </p:sp>
      <p:sp>
        <p:nvSpPr>
          <p:cNvPr id="4" name="TextBox 3"/>
          <p:cNvSpPr txBox="1"/>
          <p:nvPr/>
        </p:nvSpPr>
        <p:spPr>
          <a:xfrm>
            <a:off x="8366760" y="438912"/>
            <a:ext cx="3200400" cy="228600"/>
          </a:xfrm>
          <a:prstGeom prst="rect">
            <a:avLst/>
          </a:prstGeom>
          <a:noFill/>
        </p:spPr>
        <p:txBody>
          <a:bodyPr wrap="square" lIns="0" rIns="0" tIns="18288" bIns="18288">
            <a:spAutoFit/>
          </a:bodyPr>
          <a:lstStyle/>
          <a:p>
            <a:pPr>
              <a:spcAft>
                <a:spcPts val="900"/>
              </a:spcAft>
              <a:defRPr sz="1000" b="0">
                <a:solidFill>
                  <a:srgbClr val="ABC1EA"/>
                </a:solidFill>
                <a:latin typeface="Arial"/>
              </a:defRPr>
            </a:pPr>
            <a:r>
              <a:t>09 · LIVE DEMO</a:t>
            </a:r>
          </a:p>
        </p:txBody>
      </p:sp>
      <p:sp>
        <p:nvSpPr>
          <p:cNvPr id="5" name="TextBox 4"/>
          <p:cNvSpPr txBox="1"/>
          <p:nvPr/>
        </p:nvSpPr>
        <p:spPr>
          <a:xfrm>
            <a:off x="685800" y="987552"/>
            <a:ext cx="10835640" cy="868680"/>
          </a:xfrm>
          <a:prstGeom prst="rect">
            <a:avLst/>
          </a:prstGeom>
          <a:noFill/>
        </p:spPr>
        <p:txBody>
          <a:bodyPr wrap="square" lIns="0" rIns="0" tIns="18288" bIns="18288">
            <a:spAutoFit/>
          </a:bodyPr>
          <a:lstStyle/>
          <a:p>
            <a:pPr>
              <a:spcAft>
                <a:spcPts val="900"/>
              </a:spcAft>
              <a:defRPr sz="3200" b="1">
                <a:solidFill>
                  <a:srgbClr val="FFFFFF"/>
                </a:solidFill>
                <a:latin typeface="Arial"/>
              </a:defRPr>
            </a:pPr>
            <a:r>
              <a:t>Let’s follow one receipt from submission to reward.</a:t>
            </a:r>
          </a:p>
        </p:txBody>
      </p:sp>
      <p:sp>
        <p:nvSpPr>
          <p:cNvPr id="6" name="TextBox 5"/>
          <p:cNvSpPr txBox="1"/>
          <p:nvPr/>
        </p:nvSpPr>
        <p:spPr>
          <a:xfrm>
            <a:off x="713232" y="1856231"/>
            <a:ext cx="10698480" cy="502920"/>
          </a:xfrm>
          <a:prstGeom prst="rect">
            <a:avLst/>
          </a:prstGeom>
          <a:noFill/>
        </p:spPr>
        <p:txBody>
          <a:bodyPr wrap="square" lIns="0" rIns="0" tIns="18288" bIns="18288">
            <a:spAutoFit/>
          </a:bodyPr>
          <a:lstStyle/>
          <a:p>
            <a:pPr>
              <a:spcAft>
                <a:spcPts val="900"/>
              </a:spcAft>
              <a:defRPr sz="1600" b="0">
                <a:solidFill>
                  <a:srgbClr val="BDCADB"/>
                </a:solidFill>
                <a:latin typeface="Arial"/>
              </a:defRPr>
            </a:pPr>
            <a:r>
              <a:t>I’ll switch between a member session and an administrator session.</a:t>
            </a:r>
          </a:p>
        </p:txBody>
      </p:sp>
      <p:cxnSp>
        <p:nvCxnSpPr>
          <p:cNvPr id="7" name="Connector 6"/>
          <p:cNvCxnSpPr/>
          <p:nvPr/>
        </p:nvCxnSpPr>
        <p:spPr>
          <a:xfrm>
            <a:off x="713232" y="6318504"/>
            <a:ext cx="10762488" cy="0"/>
          </a:xfrm>
          <a:prstGeom prst="line">
            <a:avLst/>
          </a:prstGeom>
          <a:ln w="19050">
            <a:solidFill>
              <a:srgbClr val="344158"/>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13232" y="6437376"/>
            <a:ext cx="8229600" cy="210312"/>
          </a:xfrm>
          <a:prstGeom prst="rect">
            <a:avLst/>
          </a:prstGeom>
          <a:noFill/>
        </p:spPr>
        <p:txBody>
          <a:bodyPr wrap="square" lIns="0" rIns="0" tIns="18288" bIns="18288">
            <a:spAutoFit/>
          </a:bodyPr>
          <a:lstStyle/>
          <a:p>
            <a:pPr>
              <a:spcAft>
                <a:spcPts val="900"/>
              </a:spcAft>
              <a:defRPr sz="900" b="0">
                <a:solidFill>
                  <a:srgbClr val="BDCADB"/>
                </a:solidFill>
                <a:latin typeface="Arial"/>
              </a:defRPr>
            </a:pPr>
            <a:r>
              <a:t>AMIN H.   /   SECOND-ROUND TECHNICAL INTERVIEW</a:t>
            </a:r>
          </a:p>
        </p:txBody>
      </p:sp>
      <p:sp>
        <p:nvSpPr>
          <p:cNvPr id="9" name="TextBox 8"/>
          <p:cNvSpPr txBox="1"/>
          <p:nvPr/>
        </p:nvSpPr>
        <p:spPr>
          <a:xfrm>
            <a:off x="10835640" y="6419088"/>
            <a:ext cx="731520" cy="237744"/>
          </a:xfrm>
          <a:prstGeom prst="rect">
            <a:avLst/>
          </a:prstGeom>
          <a:noFill/>
        </p:spPr>
        <p:txBody>
          <a:bodyPr wrap="square" lIns="0" rIns="0" tIns="18288" bIns="18288">
            <a:spAutoFit/>
          </a:bodyPr>
          <a:lstStyle/>
          <a:p>
            <a:pPr>
              <a:spcAft>
                <a:spcPts val="900"/>
              </a:spcAft>
              <a:defRPr sz="1000" b="0">
                <a:solidFill>
                  <a:srgbClr val="BDCADB"/>
                </a:solidFill>
                <a:latin typeface="Arial"/>
              </a:defRPr>
            </a:pPr>
            <a:r>
              <a:t>09 / 12</a:t>
            </a:r>
          </a:p>
        </p:txBody>
      </p:sp>
      <p:sp>
        <p:nvSpPr>
          <p:cNvPr id="10" name="TextBox 9"/>
          <p:cNvSpPr txBox="1"/>
          <p:nvPr/>
        </p:nvSpPr>
        <p:spPr>
          <a:xfrm>
            <a:off x="749808" y="2679192"/>
            <a:ext cx="502920" cy="365760"/>
          </a:xfrm>
          <a:prstGeom prst="rect">
            <a:avLst/>
          </a:prstGeom>
          <a:noFill/>
        </p:spPr>
        <p:txBody>
          <a:bodyPr wrap="square" lIns="0" rIns="0" tIns="18288" bIns="18288">
            <a:spAutoFit/>
          </a:bodyPr>
          <a:lstStyle/>
          <a:p>
            <a:pPr>
              <a:spcAft>
                <a:spcPts val="900"/>
              </a:spcAft>
              <a:defRPr sz="1800" b="1">
                <a:solidFill>
                  <a:srgbClr val="82A9FF"/>
                </a:solidFill>
                <a:latin typeface="Arial"/>
              </a:defRPr>
            </a:pPr>
            <a:r>
              <a:t>01</a:t>
            </a:r>
          </a:p>
        </p:txBody>
      </p:sp>
      <p:sp>
        <p:nvSpPr>
          <p:cNvPr id="11" name="TextBox 10"/>
          <p:cNvSpPr txBox="1"/>
          <p:nvPr/>
        </p:nvSpPr>
        <p:spPr>
          <a:xfrm>
            <a:off x="1444752" y="2679192"/>
            <a:ext cx="2377440" cy="384048"/>
          </a:xfrm>
          <a:prstGeom prst="rect">
            <a:avLst/>
          </a:prstGeom>
          <a:noFill/>
        </p:spPr>
        <p:txBody>
          <a:bodyPr wrap="square" lIns="0" rIns="0" tIns="18288" bIns="18288">
            <a:spAutoFit/>
          </a:bodyPr>
          <a:lstStyle/>
          <a:p>
            <a:pPr>
              <a:spcAft>
                <a:spcPts val="900"/>
              </a:spcAft>
              <a:defRPr sz="1800" b="1">
                <a:solidFill>
                  <a:srgbClr val="FFFFFF"/>
                </a:solidFill>
                <a:latin typeface="Arial"/>
              </a:defRPr>
            </a:pPr>
            <a:r>
              <a:t>Member</a:t>
            </a:r>
          </a:p>
        </p:txBody>
      </p:sp>
      <p:sp>
        <p:nvSpPr>
          <p:cNvPr id="12" name="TextBox 11"/>
          <p:cNvSpPr txBox="1"/>
          <p:nvPr/>
        </p:nvSpPr>
        <p:spPr>
          <a:xfrm>
            <a:off x="3794760" y="2679192"/>
            <a:ext cx="7434072" cy="457200"/>
          </a:xfrm>
          <a:prstGeom prst="rect">
            <a:avLst/>
          </a:prstGeom>
          <a:noFill/>
        </p:spPr>
        <p:txBody>
          <a:bodyPr wrap="square" lIns="0" rIns="0" tIns="18288" bIns="18288">
            <a:spAutoFit/>
          </a:bodyPr>
          <a:lstStyle/>
          <a:p>
            <a:pPr>
              <a:spcAft>
                <a:spcPts val="900"/>
              </a:spcAft>
              <a:defRPr sz="1800" b="0">
                <a:solidFill>
                  <a:srgbClr val="BDCADB"/>
                </a:solidFill>
                <a:latin typeface="Arial"/>
              </a:defRPr>
            </a:pPr>
            <a:r>
              <a:t>Upload a receipt and show PENDING in history.</a:t>
            </a:r>
          </a:p>
        </p:txBody>
      </p:sp>
      <p:sp>
        <p:nvSpPr>
          <p:cNvPr id="13" name="TextBox 12"/>
          <p:cNvSpPr txBox="1"/>
          <p:nvPr/>
        </p:nvSpPr>
        <p:spPr>
          <a:xfrm>
            <a:off x="749808" y="3310128"/>
            <a:ext cx="502920" cy="365760"/>
          </a:xfrm>
          <a:prstGeom prst="rect">
            <a:avLst/>
          </a:prstGeom>
          <a:noFill/>
        </p:spPr>
        <p:txBody>
          <a:bodyPr wrap="square" lIns="0" rIns="0" tIns="18288" bIns="18288">
            <a:spAutoFit/>
          </a:bodyPr>
          <a:lstStyle/>
          <a:p>
            <a:pPr>
              <a:spcAft>
                <a:spcPts val="900"/>
              </a:spcAft>
              <a:defRPr sz="1800" b="1">
                <a:solidFill>
                  <a:srgbClr val="82A9FF"/>
                </a:solidFill>
                <a:latin typeface="Arial"/>
              </a:defRPr>
            </a:pPr>
            <a:r>
              <a:t>02</a:t>
            </a:r>
          </a:p>
        </p:txBody>
      </p:sp>
      <p:sp>
        <p:nvSpPr>
          <p:cNvPr id="14" name="TextBox 13"/>
          <p:cNvSpPr txBox="1"/>
          <p:nvPr/>
        </p:nvSpPr>
        <p:spPr>
          <a:xfrm>
            <a:off x="1444752" y="3310128"/>
            <a:ext cx="2377440" cy="384048"/>
          </a:xfrm>
          <a:prstGeom prst="rect">
            <a:avLst/>
          </a:prstGeom>
          <a:noFill/>
        </p:spPr>
        <p:txBody>
          <a:bodyPr wrap="square" lIns="0" rIns="0" tIns="18288" bIns="18288">
            <a:spAutoFit/>
          </a:bodyPr>
          <a:lstStyle/>
          <a:p>
            <a:pPr>
              <a:spcAft>
                <a:spcPts val="900"/>
              </a:spcAft>
              <a:defRPr sz="1800" b="1">
                <a:solidFill>
                  <a:srgbClr val="FFFFFF"/>
                </a:solidFill>
                <a:latin typeface="Arial"/>
              </a:defRPr>
            </a:pPr>
            <a:r>
              <a:t>Administrator</a:t>
            </a:r>
          </a:p>
        </p:txBody>
      </p:sp>
      <p:sp>
        <p:nvSpPr>
          <p:cNvPr id="15" name="TextBox 14"/>
          <p:cNvSpPr txBox="1"/>
          <p:nvPr/>
        </p:nvSpPr>
        <p:spPr>
          <a:xfrm>
            <a:off x="3794760" y="3310128"/>
            <a:ext cx="7434072" cy="457200"/>
          </a:xfrm>
          <a:prstGeom prst="rect">
            <a:avLst/>
          </a:prstGeom>
          <a:noFill/>
        </p:spPr>
        <p:txBody>
          <a:bodyPr wrap="square" lIns="0" rIns="0" tIns="18288" bIns="18288">
            <a:spAutoFit/>
          </a:bodyPr>
          <a:lstStyle/>
          <a:p>
            <a:pPr>
              <a:spcAft>
                <a:spcPts val="900"/>
              </a:spcAft>
              <a:defRPr sz="1800" b="0">
                <a:solidFill>
                  <a:srgbClr val="BDCADB"/>
                </a:solidFill>
                <a:latin typeface="Arial"/>
              </a:defRPr>
            </a:pPr>
            <a:r>
              <a:t>Open the evidence, then approve the receipt.</a:t>
            </a:r>
          </a:p>
        </p:txBody>
      </p:sp>
      <p:sp>
        <p:nvSpPr>
          <p:cNvPr id="16" name="TextBox 15"/>
          <p:cNvSpPr txBox="1"/>
          <p:nvPr/>
        </p:nvSpPr>
        <p:spPr>
          <a:xfrm>
            <a:off x="749808" y="3941064"/>
            <a:ext cx="502920" cy="365760"/>
          </a:xfrm>
          <a:prstGeom prst="rect">
            <a:avLst/>
          </a:prstGeom>
          <a:noFill/>
        </p:spPr>
        <p:txBody>
          <a:bodyPr wrap="square" lIns="0" rIns="0" tIns="18288" bIns="18288">
            <a:spAutoFit/>
          </a:bodyPr>
          <a:lstStyle/>
          <a:p>
            <a:pPr>
              <a:spcAft>
                <a:spcPts val="900"/>
              </a:spcAft>
              <a:defRPr sz="1800" b="1">
                <a:solidFill>
                  <a:srgbClr val="82A9FF"/>
                </a:solidFill>
                <a:latin typeface="Arial"/>
              </a:defRPr>
            </a:pPr>
            <a:r>
              <a:t>03</a:t>
            </a:r>
          </a:p>
        </p:txBody>
      </p:sp>
      <p:sp>
        <p:nvSpPr>
          <p:cNvPr id="17" name="TextBox 16"/>
          <p:cNvSpPr txBox="1"/>
          <p:nvPr/>
        </p:nvSpPr>
        <p:spPr>
          <a:xfrm>
            <a:off x="1444752" y="3941064"/>
            <a:ext cx="2377440" cy="384048"/>
          </a:xfrm>
          <a:prstGeom prst="rect">
            <a:avLst/>
          </a:prstGeom>
          <a:noFill/>
        </p:spPr>
        <p:txBody>
          <a:bodyPr wrap="square" lIns="0" rIns="0" tIns="18288" bIns="18288">
            <a:spAutoFit/>
          </a:bodyPr>
          <a:lstStyle/>
          <a:p>
            <a:pPr>
              <a:spcAft>
                <a:spcPts val="900"/>
              </a:spcAft>
              <a:defRPr sz="1800" b="1">
                <a:solidFill>
                  <a:srgbClr val="FFFFFF"/>
                </a:solidFill>
                <a:latin typeface="Arial"/>
              </a:defRPr>
            </a:pPr>
            <a:r>
              <a:t>Member</a:t>
            </a:r>
          </a:p>
        </p:txBody>
      </p:sp>
      <p:sp>
        <p:nvSpPr>
          <p:cNvPr id="18" name="TextBox 17"/>
          <p:cNvSpPr txBox="1"/>
          <p:nvPr/>
        </p:nvSpPr>
        <p:spPr>
          <a:xfrm>
            <a:off x="3794760" y="3941064"/>
            <a:ext cx="7434072" cy="457200"/>
          </a:xfrm>
          <a:prstGeom prst="rect">
            <a:avLst/>
          </a:prstGeom>
          <a:noFill/>
        </p:spPr>
        <p:txBody>
          <a:bodyPr wrap="square" lIns="0" rIns="0" tIns="18288" bIns="18288">
            <a:spAutoFit/>
          </a:bodyPr>
          <a:lstStyle/>
          <a:p>
            <a:pPr>
              <a:spcAft>
                <a:spcPts val="900"/>
              </a:spcAft>
              <a:defRPr sz="1800" b="0">
                <a:solidFill>
                  <a:srgbClr val="BDCADB"/>
                </a:solidFill>
                <a:latin typeface="Arial"/>
              </a:defRPr>
            </a:pPr>
            <a:r>
              <a:t>Refresh history and show the linked voucher.</a:t>
            </a:r>
          </a:p>
        </p:txBody>
      </p:sp>
      <p:sp>
        <p:nvSpPr>
          <p:cNvPr id="19" name="TextBox 18"/>
          <p:cNvSpPr txBox="1"/>
          <p:nvPr/>
        </p:nvSpPr>
        <p:spPr>
          <a:xfrm>
            <a:off x="749808" y="4572000"/>
            <a:ext cx="502920" cy="365760"/>
          </a:xfrm>
          <a:prstGeom prst="rect">
            <a:avLst/>
          </a:prstGeom>
          <a:noFill/>
        </p:spPr>
        <p:txBody>
          <a:bodyPr wrap="square" lIns="0" rIns="0" tIns="18288" bIns="18288">
            <a:spAutoFit/>
          </a:bodyPr>
          <a:lstStyle/>
          <a:p>
            <a:pPr>
              <a:spcAft>
                <a:spcPts val="900"/>
              </a:spcAft>
              <a:defRPr sz="1800" b="1">
                <a:solidFill>
                  <a:srgbClr val="82A9FF"/>
                </a:solidFill>
                <a:latin typeface="Arial"/>
              </a:defRPr>
            </a:pPr>
            <a:r>
              <a:t>04</a:t>
            </a:r>
          </a:p>
        </p:txBody>
      </p:sp>
      <p:sp>
        <p:nvSpPr>
          <p:cNvPr id="20" name="TextBox 19"/>
          <p:cNvSpPr txBox="1"/>
          <p:nvPr/>
        </p:nvSpPr>
        <p:spPr>
          <a:xfrm>
            <a:off x="1444752" y="4572000"/>
            <a:ext cx="2377440" cy="384048"/>
          </a:xfrm>
          <a:prstGeom prst="rect">
            <a:avLst/>
          </a:prstGeom>
          <a:noFill/>
        </p:spPr>
        <p:txBody>
          <a:bodyPr wrap="square" lIns="0" rIns="0" tIns="18288" bIns="18288">
            <a:spAutoFit/>
          </a:bodyPr>
          <a:lstStyle/>
          <a:p>
            <a:pPr>
              <a:spcAft>
                <a:spcPts val="900"/>
              </a:spcAft>
              <a:defRPr sz="1800" b="1">
                <a:solidFill>
                  <a:srgbClr val="FFFFFF"/>
                </a:solidFill>
                <a:latin typeface="Arial"/>
              </a:defRPr>
            </a:pPr>
            <a:r>
              <a:t>Alternate outcome</a:t>
            </a:r>
          </a:p>
        </p:txBody>
      </p:sp>
      <p:sp>
        <p:nvSpPr>
          <p:cNvPr id="21" name="TextBox 20"/>
          <p:cNvSpPr txBox="1"/>
          <p:nvPr/>
        </p:nvSpPr>
        <p:spPr>
          <a:xfrm>
            <a:off x="3794760" y="4572000"/>
            <a:ext cx="7434072" cy="457200"/>
          </a:xfrm>
          <a:prstGeom prst="rect">
            <a:avLst/>
          </a:prstGeom>
          <a:noFill/>
        </p:spPr>
        <p:txBody>
          <a:bodyPr wrap="square" lIns="0" rIns="0" tIns="18288" bIns="18288">
            <a:spAutoFit/>
          </a:bodyPr>
          <a:lstStyle/>
          <a:p>
            <a:pPr>
              <a:spcAft>
                <a:spcPts val="900"/>
              </a:spcAft>
              <a:defRPr sz="1800" b="0">
                <a:solidFill>
                  <a:srgbClr val="BDCADB"/>
                </a:solidFill>
                <a:latin typeface="Arial"/>
              </a:defRPr>
            </a:pPr>
            <a:r>
              <a:t>Reject a second receipt; confirm no extra voucher.</a:t>
            </a:r>
          </a:p>
        </p:txBody>
      </p:sp>
      <p:sp>
        <p:nvSpPr>
          <p:cNvPr id="22" name="TextBox 21"/>
          <p:cNvSpPr txBox="1"/>
          <p:nvPr/>
        </p:nvSpPr>
        <p:spPr>
          <a:xfrm>
            <a:off x="749808" y="5687568"/>
            <a:ext cx="9144000" cy="365760"/>
          </a:xfrm>
          <a:prstGeom prst="rect">
            <a:avLst/>
          </a:prstGeom>
          <a:noFill/>
        </p:spPr>
        <p:txBody>
          <a:bodyPr wrap="square" lIns="0" rIns="0" tIns="18288" bIns="18288">
            <a:spAutoFit/>
          </a:bodyPr>
          <a:lstStyle/>
          <a:p>
            <a:pPr>
              <a:spcAft>
                <a:spcPts val="900"/>
              </a:spcAft>
              <a:defRPr sz="2100" b="1">
                <a:solidFill>
                  <a:srgbClr val="82A9FF"/>
                </a:solidFill>
                <a:latin typeface="Arial"/>
              </a:defRPr>
            </a:pPr>
            <a:r>
              <a:t>antlysis-loyalty.axelyn.com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13232" y="457200"/>
            <a:ext cx="5486400" cy="274320"/>
          </a:xfrm>
          <a:prstGeom prst="rect">
            <a:avLst/>
          </a:prstGeom>
          <a:noFill/>
        </p:spPr>
        <p:txBody>
          <a:bodyPr wrap="square" lIns="0" rIns="0" tIns="0" bIns="0">
            <a:spAutoFit/>
          </a:bodyPr>
          <a:lstStyle/>
          <a:p>
            <a:pPr>
              <a:defRPr sz="1100" b="1">
                <a:solidFill>
                  <a:srgbClr val="225CDB"/>
                </a:solidFill>
                <a:latin typeface="Arial"/>
              </a:defRPr>
            </a:pPr>
            <a:r>
              <a:t>PROOF / PERK   ·   ANTLYSIS</a:t>
            </a:r>
          </a:p>
        </p:txBody>
      </p:sp>
      <p:sp>
        <p:nvSpPr>
          <p:cNvPr id="3" name="TextBox 2"/>
          <p:cNvSpPr txBox="1"/>
          <p:nvPr/>
        </p:nvSpPr>
        <p:spPr>
          <a:xfrm>
            <a:off x="8778240" y="457200"/>
            <a:ext cx="2651760" cy="274320"/>
          </a:xfrm>
          <a:prstGeom prst="rect">
            <a:avLst/>
          </a:prstGeom>
          <a:noFill/>
        </p:spPr>
        <p:txBody>
          <a:bodyPr wrap="square" lIns="0" rIns="0" tIns="0" bIns="0">
            <a:spAutoFit/>
          </a:bodyPr>
          <a:lstStyle/>
          <a:p>
            <a:pPr>
              <a:defRPr sz="1000" b="0">
                <a:solidFill>
                  <a:srgbClr val="5E6D82"/>
                </a:solidFill>
                <a:latin typeface="Arial"/>
              </a:defRPr>
            </a:pPr>
            <a:r>
              <a:t>USER JOURNEY 01</a:t>
            </a:r>
          </a:p>
        </p:txBody>
      </p:sp>
      <p:sp>
        <p:nvSpPr>
          <p:cNvPr id="4" name="TextBox 3"/>
          <p:cNvSpPr txBox="1"/>
          <p:nvPr/>
        </p:nvSpPr>
        <p:spPr>
          <a:xfrm>
            <a:off x="713232" y="1600200"/>
            <a:ext cx="1828800" cy="640080"/>
          </a:xfrm>
          <a:prstGeom prst="rect">
            <a:avLst/>
          </a:prstGeom>
          <a:noFill/>
        </p:spPr>
        <p:txBody>
          <a:bodyPr wrap="square" lIns="0" rIns="0" tIns="0" bIns="0">
            <a:spAutoFit/>
          </a:bodyPr>
          <a:lstStyle/>
          <a:p>
            <a:pPr>
              <a:defRPr sz="3800" b="1">
                <a:solidFill>
                  <a:srgbClr val="225CDB"/>
                </a:solidFill>
                <a:latin typeface="Arial"/>
              </a:defRPr>
            </a:pPr>
            <a:r>
              <a:t>01</a:t>
            </a:r>
          </a:p>
        </p:txBody>
      </p:sp>
      <p:sp>
        <p:nvSpPr>
          <p:cNvPr id="5" name="TextBox 4"/>
          <p:cNvSpPr txBox="1"/>
          <p:nvPr/>
        </p:nvSpPr>
        <p:spPr>
          <a:xfrm>
            <a:off x="713232" y="2514600"/>
            <a:ext cx="10698480" cy="777240"/>
          </a:xfrm>
          <a:prstGeom prst="rect">
            <a:avLst/>
          </a:prstGeom>
          <a:noFill/>
        </p:spPr>
        <p:txBody>
          <a:bodyPr wrap="square" lIns="0" rIns="0" tIns="0" bIns="0">
            <a:spAutoFit/>
          </a:bodyPr>
          <a:lstStyle/>
          <a:p>
            <a:pPr>
              <a:defRPr sz="3900" b="1">
                <a:solidFill>
                  <a:srgbClr val="17243A"/>
                </a:solidFill>
                <a:latin typeface="Arial"/>
              </a:defRPr>
            </a:pPr>
            <a:r>
              <a:t>Member submits a receipt</a:t>
            </a:r>
          </a:p>
        </p:txBody>
      </p:sp>
      <p:sp>
        <p:nvSpPr>
          <p:cNvPr id="6" name="TextBox 5"/>
          <p:cNvSpPr txBox="1"/>
          <p:nvPr/>
        </p:nvSpPr>
        <p:spPr>
          <a:xfrm>
            <a:off x="731520" y="3630168"/>
            <a:ext cx="10012680" cy="960120"/>
          </a:xfrm>
          <a:prstGeom prst="rect">
            <a:avLst/>
          </a:prstGeom>
          <a:noFill/>
        </p:spPr>
        <p:txBody>
          <a:bodyPr wrap="square" lIns="0" rIns="0" tIns="0" bIns="0">
            <a:spAutoFit/>
          </a:bodyPr>
          <a:lstStyle/>
          <a:p>
            <a:pPr>
              <a:defRPr sz="2300" b="0">
                <a:solidFill>
                  <a:srgbClr val="5E6D82"/>
                </a:solidFill>
                <a:latin typeface="Arial"/>
              </a:defRPr>
            </a:pPr>
            <a:r>
              <a:t>Upload the file and purchase details. The receipt enters the admin review queue.</a:t>
            </a:r>
          </a:p>
        </p:txBody>
      </p:sp>
      <p:sp>
        <p:nvSpPr>
          <p:cNvPr id="7" name="TextBox 6"/>
          <p:cNvSpPr txBox="1"/>
          <p:nvPr/>
        </p:nvSpPr>
        <p:spPr>
          <a:xfrm>
            <a:off x="731520" y="5166360"/>
            <a:ext cx="10424160" cy="548640"/>
          </a:xfrm>
          <a:prstGeom prst="rect">
            <a:avLst/>
          </a:prstGeom>
          <a:noFill/>
        </p:spPr>
        <p:txBody>
          <a:bodyPr wrap="square" lIns="0" rIns="0" tIns="0" bIns="0">
            <a:spAutoFit/>
          </a:bodyPr>
          <a:lstStyle/>
          <a:p>
            <a:pPr>
              <a:defRPr sz="2200" b="1">
                <a:solidFill>
                  <a:srgbClr val="225CDB"/>
                </a:solidFill>
                <a:latin typeface="Arial"/>
              </a:defRPr>
            </a:pPr>
            <a:r>
              <a:t>Outcome: PENDING</a:t>
            </a:r>
          </a:p>
        </p:txBody>
      </p:sp>
      <p:sp>
        <p:nvSpPr>
          <p:cNvPr id="8" name="TextBox 7"/>
          <p:cNvSpPr txBox="1"/>
          <p:nvPr/>
        </p:nvSpPr>
        <p:spPr>
          <a:xfrm>
            <a:off x="713232" y="6437376"/>
            <a:ext cx="8229600" cy="210312"/>
          </a:xfrm>
          <a:prstGeom prst="rect">
            <a:avLst/>
          </a:prstGeom>
          <a:noFill/>
        </p:spPr>
        <p:txBody>
          <a:bodyPr wrap="square" lIns="0" rIns="0" tIns="0" bIns="0">
            <a:spAutoFit/>
          </a:bodyPr>
          <a:lstStyle/>
          <a:p>
            <a:pPr>
              <a:defRPr sz="900" b="0">
                <a:solidFill>
                  <a:srgbClr val="5E6D82"/>
                </a:solidFill>
                <a:latin typeface="Arial"/>
              </a:defRPr>
            </a:pPr>
            <a:r>
              <a:t>AMIN H.   /   SECOND-ROUND TECHNICAL INTERVIEW</a:t>
            </a:r>
          </a:p>
        </p:txBody>
      </p:sp>
      <p:sp>
        <p:nvSpPr>
          <p:cNvPr id="9" name="TextBox 8"/>
          <p:cNvSpPr txBox="1"/>
          <p:nvPr/>
        </p:nvSpPr>
        <p:spPr>
          <a:xfrm>
            <a:off x="10835640" y="6419088"/>
            <a:ext cx="731520" cy="237744"/>
          </a:xfrm>
          <a:prstGeom prst="rect">
            <a:avLst/>
          </a:prstGeom>
          <a:noFill/>
        </p:spPr>
        <p:txBody>
          <a:bodyPr wrap="square" lIns="0" rIns="0" tIns="0" bIns="0">
            <a:spAutoFit/>
          </a:bodyPr>
          <a:lstStyle/>
          <a:p>
            <a:pPr>
              <a:defRPr sz="1000" b="0">
                <a:solidFill>
                  <a:srgbClr val="5E6D82"/>
                </a:solidFill>
                <a:latin typeface="Arial"/>
              </a:defRPr>
            </a:pPr>
            <a: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13232" y="457200"/>
            <a:ext cx="5486400" cy="274320"/>
          </a:xfrm>
          <a:prstGeom prst="rect">
            <a:avLst/>
          </a:prstGeom>
          <a:noFill/>
        </p:spPr>
        <p:txBody>
          <a:bodyPr wrap="square" lIns="0" rIns="0" tIns="0" bIns="0">
            <a:spAutoFit/>
          </a:bodyPr>
          <a:lstStyle/>
          <a:p>
            <a:pPr>
              <a:defRPr sz="1100" b="1">
                <a:solidFill>
                  <a:srgbClr val="225CDB"/>
                </a:solidFill>
                <a:latin typeface="Arial"/>
              </a:defRPr>
            </a:pPr>
            <a:r>
              <a:t>PROOF / PERK   ·   ANTLYSIS</a:t>
            </a:r>
          </a:p>
        </p:txBody>
      </p:sp>
      <p:sp>
        <p:nvSpPr>
          <p:cNvPr id="3" name="TextBox 2"/>
          <p:cNvSpPr txBox="1"/>
          <p:nvPr/>
        </p:nvSpPr>
        <p:spPr>
          <a:xfrm>
            <a:off x="8778240" y="457200"/>
            <a:ext cx="2651760" cy="274320"/>
          </a:xfrm>
          <a:prstGeom prst="rect">
            <a:avLst/>
          </a:prstGeom>
          <a:noFill/>
        </p:spPr>
        <p:txBody>
          <a:bodyPr wrap="square" lIns="0" rIns="0" tIns="0" bIns="0">
            <a:spAutoFit/>
          </a:bodyPr>
          <a:lstStyle/>
          <a:p>
            <a:pPr>
              <a:defRPr sz="1000" b="0">
                <a:solidFill>
                  <a:srgbClr val="5E6D82"/>
                </a:solidFill>
                <a:latin typeface="Arial"/>
              </a:defRPr>
            </a:pPr>
            <a:r>
              <a:t>USER JOURNEY 02</a:t>
            </a:r>
          </a:p>
        </p:txBody>
      </p:sp>
      <p:sp>
        <p:nvSpPr>
          <p:cNvPr id="4" name="TextBox 3"/>
          <p:cNvSpPr txBox="1"/>
          <p:nvPr/>
        </p:nvSpPr>
        <p:spPr>
          <a:xfrm>
            <a:off x="713232" y="1600200"/>
            <a:ext cx="1828800" cy="640080"/>
          </a:xfrm>
          <a:prstGeom prst="rect">
            <a:avLst/>
          </a:prstGeom>
          <a:noFill/>
        </p:spPr>
        <p:txBody>
          <a:bodyPr wrap="square" lIns="0" rIns="0" tIns="0" bIns="0">
            <a:spAutoFit/>
          </a:bodyPr>
          <a:lstStyle/>
          <a:p>
            <a:pPr>
              <a:defRPr sz="3800" b="1">
                <a:solidFill>
                  <a:srgbClr val="167D65"/>
                </a:solidFill>
                <a:latin typeface="Arial"/>
              </a:defRPr>
            </a:pPr>
            <a:r>
              <a:t>02</a:t>
            </a:r>
          </a:p>
        </p:txBody>
      </p:sp>
      <p:sp>
        <p:nvSpPr>
          <p:cNvPr id="5" name="TextBox 4"/>
          <p:cNvSpPr txBox="1"/>
          <p:nvPr/>
        </p:nvSpPr>
        <p:spPr>
          <a:xfrm>
            <a:off x="713232" y="2514600"/>
            <a:ext cx="10698480" cy="777240"/>
          </a:xfrm>
          <a:prstGeom prst="rect">
            <a:avLst/>
          </a:prstGeom>
          <a:noFill/>
        </p:spPr>
        <p:txBody>
          <a:bodyPr wrap="square" lIns="0" rIns="0" tIns="0" bIns="0">
            <a:spAutoFit/>
          </a:bodyPr>
          <a:lstStyle/>
          <a:p>
            <a:pPr>
              <a:defRPr sz="3900" b="1">
                <a:solidFill>
                  <a:srgbClr val="17243A"/>
                </a:solidFill>
                <a:latin typeface="Arial"/>
              </a:defRPr>
            </a:pPr>
            <a:r>
              <a:t>Admin approves a receipt</a:t>
            </a:r>
          </a:p>
        </p:txBody>
      </p:sp>
      <p:sp>
        <p:nvSpPr>
          <p:cNvPr id="6" name="TextBox 5"/>
          <p:cNvSpPr txBox="1"/>
          <p:nvPr/>
        </p:nvSpPr>
        <p:spPr>
          <a:xfrm>
            <a:off x="731520" y="3630168"/>
            <a:ext cx="10012680" cy="960120"/>
          </a:xfrm>
          <a:prstGeom prst="rect">
            <a:avLst/>
          </a:prstGeom>
          <a:noFill/>
        </p:spPr>
        <p:txBody>
          <a:bodyPr wrap="square" lIns="0" rIns="0" tIns="0" bIns="0">
            <a:spAutoFit/>
          </a:bodyPr>
          <a:lstStyle/>
          <a:p>
            <a:pPr>
              <a:defRPr sz="2300" b="0">
                <a:solidFill>
                  <a:srgbClr val="5E6D82"/>
                </a:solidFill>
                <a:latin typeface="Arial"/>
              </a:defRPr>
            </a:pPr>
            <a:r>
              <a:t>Review the evidence and approve. The member receives exactly one linked voucher.</a:t>
            </a:r>
          </a:p>
        </p:txBody>
      </p:sp>
      <p:sp>
        <p:nvSpPr>
          <p:cNvPr id="7" name="TextBox 6"/>
          <p:cNvSpPr txBox="1"/>
          <p:nvPr/>
        </p:nvSpPr>
        <p:spPr>
          <a:xfrm>
            <a:off x="731520" y="5166360"/>
            <a:ext cx="10424160" cy="548640"/>
          </a:xfrm>
          <a:prstGeom prst="rect">
            <a:avLst/>
          </a:prstGeom>
          <a:noFill/>
        </p:spPr>
        <p:txBody>
          <a:bodyPr wrap="square" lIns="0" rIns="0" tIns="0" bIns="0">
            <a:spAutoFit/>
          </a:bodyPr>
          <a:lstStyle/>
          <a:p>
            <a:pPr>
              <a:defRPr sz="2200" b="1">
                <a:solidFill>
                  <a:srgbClr val="167D65"/>
                </a:solidFill>
                <a:latin typeface="Arial"/>
              </a:defRPr>
            </a:pPr>
            <a:r>
              <a:t>Outcome: APPROVED + ONE VOUCHER</a:t>
            </a:r>
          </a:p>
        </p:txBody>
      </p:sp>
      <p:sp>
        <p:nvSpPr>
          <p:cNvPr id="8" name="TextBox 7"/>
          <p:cNvSpPr txBox="1"/>
          <p:nvPr/>
        </p:nvSpPr>
        <p:spPr>
          <a:xfrm>
            <a:off x="713232" y="6437376"/>
            <a:ext cx="8229600" cy="210312"/>
          </a:xfrm>
          <a:prstGeom prst="rect">
            <a:avLst/>
          </a:prstGeom>
          <a:noFill/>
        </p:spPr>
        <p:txBody>
          <a:bodyPr wrap="square" lIns="0" rIns="0" tIns="0" bIns="0">
            <a:spAutoFit/>
          </a:bodyPr>
          <a:lstStyle/>
          <a:p>
            <a:pPr>
              <a:defRPr sz="900" b="0">
                <a:solidFill>
                  <a:srgbClr val="5E6D82"/>
                </a:solidFill>
                <a:latin typeface="Arial"/>
              </a:defRPr>
            </a:pPr>
            <a:r>
              <a:t>AMIN H.   /   SECOND-ROUND TECHNICAL INTERVIEW</a:t>
            </a:r>
          </a:p>
        </p:txBody>
      </p:sp>
      <p:sp>
        <p:nvSpPr>
          <p:cNvPr id="9" name="TextBox 8"/>
          <p:cNvSpPr txBox="1"/>
          <p:nvPr/>
        </p:nvSpPr>
        <p:spPr>
          <a:xfrm>
            <a:off x="10835640" y="6419088"/>
            <a:ext cx="731520" cy="237744"/>
          </a:xfrm>
          <a:prstGeom prst="rect">
            <a:avLst/>
          </a:prstGeom>
          <a:noFill/>
        </p:spPr>
        <p:txBody>
          <a:bodyPr wrap="square" lIns="0" rIns="0" tIns="0" bIns="0">
            <a:spAutoFit/>
          </a:bodyPr>
          <a:lstStyle/>
          <a:p>
            <a:pPr>
              <a:defRPr sz="1000" b="0">
                <a:solidFill>
                  <a:srgbClr val="5E6D82"/>
                </a:solidFill>
                <a:latin typeface="Arial"/>
              </a:defRPr>
            </a:pPr>
            <a: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713232" y="457200"/>
            <a:ext cx="5486400" cy="274320"/>
          </a:xfrm>
          <a:prstGeom prst="rect">
            <a:avLst/>
          </a:prstGeom>
          <a:noFill/>
        </p:spPr>
        <p:txBody>
          <a:bodyPr wrap="square" lIns="0" rIns="0" tIns="0" bIns="0">
            <a:spAutoFit/>
          </a:bodyPr>
          <a:lstStyle/>
          <a:p>
            <a:pPr>
              <a:defRPr sz="1100" b="1">
                <a:solidFill>
                  <a:srgbClr val="225CDB"/>
                </a:solidFill>
                <a:latin typeface="Arial"/>
              </a:defRPr>
            </a:pPr>
            <a:r>
              <a:t>PROOF / PERK   ·   ANTLYSIS</a:t>
            </a:r>
          </a:p>
        </p:txBody>
      </p:sp>
      <p:sp>
        <p:nvSpPr>
          <p:cNvPr id="3" name="TextBox 2"/>
          <p:cNvSpPr txBox="1"/>
          <p:nvPr/>
        </p:nvSpPr>
        <p:spPr>
          <a:xfrm>
            <a:off x="8778240" y="457200"/>
            <a:ext cx="2651760" cy="274320"/>
          </a:xfrm>
          <a:prstGeom prst="rect">
            <a:avLst/>
          </a:prstGeom>
          <a:noFill/>
        </p:spPr>
        <p:txBody>
          <a:bodyPr wrap="square" lIns="0" rIns="0" tIns="0" bIns="0">
            <a:spAutoFit/>
          </a:bodyPr>
          <a:lstStyle/>
          <a:p>
            <a:pPr>
              <a:defRPr sz="1000" b="0">
                <a:solidFill>
                  <a:srgbClr val="5E6D82"/>
                </a:solidFill>
                <a:latin typeface="Arial"/>
              </a:defRPr>
            </a:pPr>
            <a:r>
              <a:t>USER JOURNEY 03</a:t>
            </a:r>
          </a:p>
        </p:txBody>
      </p:sp>
      <p:sp>
        <p:nvSpPr>
          <p:cNvPr id="4" name="TextBox 3"/>
          <p:cNvSpPr txBox="1"/>
          <p:nvPr/>
        </p:nvSpPr>
        <p:spPr>
          <a:xfrm>
            <a:off x="713232" y="1600200"/>
            <a:ext cx="1828800" cy="640080"/>
          </a:xfrm>
          <a:prstGeom prst="rect">
            <a:avLst/>
          </a:prstGeom>
          <a:noFill/>
        </p:spPr>
        <p:txBody>
          <a:bodyPr wrap="square" lIns="0" rIns="0" tIns="0" bIns="0">
            <a:spAutoFit/>
          </a:bodyPr>
          <a:lstStyle/>
          <a:p>
            <a:pPr>
              <a:defRPr sz="3800" b="1">
                <a:solidFill>
                  <a:srgbClr val="B84048"/>
                </a:solidFill>
                <a:latin typeface="Arial"/>
              </a:defRPr>
            </a:pPr>
            <a:r>
              <a:t>03</a:t>
            </a:r>
          </a:p>
        </p:txBody>
      </p:sp>
      <p:sp>
        <p:nvSpPr>
          <p:cNvPr id="5" name="TextBox 4"/>
          <p:cNvSpPr txBox="1"/>
          <p:nvPr/>
        </p:nvSpPr>
        <p:spPr>
          <a:xfrm>
            <a:off x="713232" y="2514600"/>
            <a:ext cx="10698480" cy="777240"/>
          </a:xfrm>
          <a:prstGeom prst="rect">
            <a:avLst/>
          </a:prstGeom>
          <a:noFill/>
        </p:spPr>
        <p:txBody>
          <a:bodyPr wrap="square" lIns="0" rIns="0" tIns="0" bIns="0">
            <a:spAutoFit/>
          </a:bodyPr>
          <a:lstStyle/>
          <a:p>
            <a:pPr>
              <a:defRPr sz="3900" b="1">
                <a:solidFill>
                  <a:srgbClr val="17243A"/>
                </a:solidFill>
                <a:latin typeface="Arial"/>
              </a:defRPr>
            </a:pPr>
            <a:r>
              <a:t>Admin rejects a receipt</a:t>
            </a:r>
          </a:p>
        </p:txBody>
      </p:sp>
      <p:sp>
        <p:nvSpPr>
          <p:cNvPr id="6" name="TextBox 5"/>
          <p:cNvSpPr txBox="1"/>
          <p:nvPr/>
        </p:nvSpPr>
        <p:spPr>
          <a:xfrm>
            <a:off x="731520" y="3630168"/>
            <a:ext cx="10012680" cy="960120"/>
          </a:xfrm>
          <a:prstGeom prst="rect">
            <a:avLst/>
          </a:prstGeom>
          <a:noFill/>
        </p:spPr>
        <p:txBody>
          <a:bodyPr wrap="square" lIns="0" rIns="0" tIns="0" bIns="0">
            <a:spAutoFit/>
          </a:bodyPr>
          <a:lstStyle/>
          <a:p>
            <a:pPr>
              <a:defRPr sz="2300" b="0">
                <a:solidFill>
                  <a:srgbClr val="5E6D82"/>
                </a:solidFill>
                <a:latin typeface="Arial"/>
              </a:defRPr>
            </a:pPr>
            <a:r>
              <a:t>Review the evidence and reject. The member sees the decision and any recorded reason.</a:t>
            </a:r>
          </a:p>
        </p:txBody>
      </p:sp>
      <p:sp>
        <p:nvSpPr>
          <p:cNvPr id="7" name="TextBox 6"/>
          <p:cNvSpPr txBox="1"/>
          <p:nvPr/>
        </p:nvSpPr>
        <p:spPr>
          <a:xfrm>
            <a:off x="731520" y="5166360"/>
            <a:ext cx="10424160" cy="548640"/>
          </a:xfrm>
          <a:prstGeom prst="rect">
            <a:avLst/>
          </a:prstGeom>
          <a:noFill/>
        </p:spPr>
        <p:txBody>
          <a:bodyPr wrap="square" lIns="0" rIns="0" tIns="0" bIns="0">
            <a:spAutoFit/>
          </a:bodyPr>
          <a:lstStyle/>
          <a:p>
            <a:pPr>
              <a:defRPr sz="2200" b="1">
                <a:solidFill>
                  <a:srgbClr val="B84048"/>
                </a:solidFill>
                <a:latin typeface="Arial"/>
              </a:defRPr>
            </a:pPr>
            <a:r>
              <a:t>Outcome: REJECTED + NO VOUCHER</a:t>
            </a:r>
          </a:p>
        </p:txBody>
      </p:sp>
      <p:sp>
        <p:nvSpPr>
          <p:cNvPr id="8" name="TextBox 7"/>
          <p:cNvSpPr txBox="1"/>
          <p:nvPr/>
        </p:nvSpPr>
        <p:spPr>
          <a:xfrm>
            <a:off x="713232" y="6437376"/>
            <a:ext cx="8229600" cy="210312"/>
          </a:xfrm>
          <a:prstGeom prst="rect">
            <a:avLst/>
          </a:prstGeom>
          <a:noFill/>
        </p:spPr>
        <p:txBody>
          <a:bodyPr wrap="square" lIns="0" rIns="0" tIns="0" bIns="0">
            <a:spAutoFit/>
          </a:bodyPr>
          <a:lstStyle/>
          <a:p>
            <a:pPr>
              <a:defRPr sz="900" b="0">
                <a:solidFill>
                  <a:srgbClr val="5E6D82"/>
                </a:solidFill>
                <a:latin typeface="Arial"/>
              </a:defRPr>
            </a:pPr>
            <a:r>
              <a:t>AMIN H.   /   SECOND-ROUND TECHNICAL INTERVIEW</a:t>
            </a:r>
          </a:p>
        </p:txBody>
      </p:sp>
      <p:sp>
        <p:nvSpPr>
          <p:cNvPr id="9" name="TextBox 8"/>
          <p:cNvSpPr txBox="1"/>
          <p:nvPr/>
        </p:nvSpPr>
        <p:spPr>
          <a:xfrm>
            <a:off x="10835640" y="6419088"/>
            <a:ext cx="731520" cy="237744"/>
          </a:xfrm>
          <a:prstGeom prst="rect">
            <a:avLst/>
          </a:prstGeom>
          <a:noFill/>
        </p:spPr>
        <p:txBody>
          <a:bodyPr wrap="square" lIns="0" rIns="0" tIns="0" bIns="0">
            <a:spAutoFit/>
          </a:bodyPr>
          <a:lstStyle/>
          <a:p>
            <a:pPr>
              <a:defRPr sz="1000" b="0">
                <a:solidFill>
                  <a:srgbClr val="5E6D82"/>
                </a:solidFill>
                <a:latin typeface="Arial"/>
              </a:defRPr>
            </a:pPr>
            <a: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Proof / Perk — Technical Interview</dc:title>
  <dc:subject>Antlysis loyalty program assessment presentation</dc:subject>
  <dc:creator>Amin H.</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